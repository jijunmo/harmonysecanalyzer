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https://github.com/JiJunmo/harmonySecAnalyzer/tree/main</a:t>
            </a:r>
          </a:p>
          <a:p>
            <a:r>
              <a:t>- https://github.com/JiJunmo/harmonySecAnalyzer/tree/v3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https://github.com/JiJunmo/harmonySecAnalyzer/blob/main/README.md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https://github.com/JiJunmo/harmonySecAnalyzer/blob/v3/README.md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https://github.com/JiJunmo/harmonySecAnalyzer/blob/main/README.md</a:t>
            </a:r>
          </a:p>
          <a:p>
            <a:r>
              <a:t>- https://github.com/JiJunmo/harmonySecAnalyzer/blob/main/agent_v2.md</a:t>
            </a:r>
          </a:p>
          <a:p>
            <a:r>
              <a:t>- https://github.com/JiJunmo/harmonySecAnalyzer/tree/main/skills_v2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https://github.com/JiJunmo/harmonySecAnalyzer/blob/v3/.opencode/agents/harmony-auditor.md</a:t>
            </a:r>
          </a:p>
          <a:p>
            <a:r>
              <a:t>- https://github.com/JiJunmo/harmonySecAnalyzer/tree/v3/.opencode/skills/audit-orchestration/scripts/audit_runtime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https://github.com/JiJunmo/harmonySecAnalyzer/blob/main/agent_v2.md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https://github.com/JiJunmo/harmonySecAnalyzer/tree/v3/.opencode/skills/audit-orchestration/scripts/audit_runtime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https://github.com/JiJunmo/harmonySecAnalyzer/blob/main/README.md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https://github.com/JiJunmo/harmonySecAnalyzer/blob/v3/.opencode/agents/component-semantic-analyzer.md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https://github.com/JiJunmo/harmonySecAnalyzer/blob/v3/.opencode/agents/component-semantic-analyzer.md</a:t>
            </a:r>
          </a:p>
          <a:p>
            <a:r>
              <a:t>- https://github.com/JiJunmo/harmonySecAnalyzer/tree/v3/.opencode/skills/audit-orchestration/scripts/audit_runtime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https://github.com/JiJunmo/harmonySecAnalyzer/blob/v3/.opencode/commands/audit.md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https://github.com/JiJunmo/harmonySecAnalyzer/blob/main/README.md</a:t>
            </a:r>
          </a:p>
          <a:p>
            <a:r>
              <a:t>- https://github.com/JiJunmo/harmonySecAnalyzer/blob/main/agent_v2.md</a:t>
            </a:r>
          </a:p>
          <a:p>
            <a:r>
              <a:t>- https://github.com/JiJunmo/harmonySecAnalyzer/blob/v3/.opencode/agents/component-semantic-analyzer.md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https://github.com/JiJunmo/harmonySecAnalyzer/blob/v3/.opencode/agents/component-semantic-analyzer.md</a:t>
            </a:r>
          </a:p>
          <a:p>
            <a:r>
              <a:t>- https://github.com/JiJunmo/harmonySecAnalyzer/blob/v3/.opencode/skills/audit-orchestration/config/schemas/component-semantic-result.schema.json</a:t>
            </a:r>
          </a:p>
          <a:p>
            <a:r>
              <a:t>- https://github.com/JiJunmo/harmonySecAnalyzer/blob/v3/.opencode/skills/audit-orchestration/scripts/audit_runtime/correlation.py</a:t>
            </a:r>
          </a:p>
          <a:p>
            <a:r>
              <a:t>- https://github.com/JiJunmo/harmonySecAnalyzer/blob/v3/.opencode/skills/audit-orchestration/scripts/audit_runtime/scheduler.py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https://github.com/JiJunmo/harmonySecAnalyzer/blob/v3/.opencode/skills/audit-orchestration/scripts/audit_runtime/correlation.py</a:t>
            </a:r>
          </a:p>
          <a:p>
            <a:r>
              <a:t>- https://github.com/JiJunmo/harmonySecAnalyzer/blob/v3/.opencode/agents/exploitability-validator.md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https://github.com/JiJunmo/harmonySecAnalyzer/blob/main/agent_v2.md</a:t>
            </a:r>
          </a:p>
          <a:p>
            <a:r>
              <a:t>- https://github.com/JiJunmo/harmonySecAnalyzer/blob/v3/.opencode/agents/exploitability-validator.md</a:t>
            </a:r>
          </a:p>
          <a:p>
            <a:r>
              <a:t>- https://github.com/JiJunmo/harmonySecAnalyzer/blob/v3/DESIGN.md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https://github.com/JiJunmo/harmonySecAnalyzer/blob/v3/.opencode/agents/exploitability-validator.md</a:t>
            </a:r>
          </a:p>
          <a:p>
            <a:r>
              <a:t>- https://github.com/JiJunmo/harmonySecAnalyzer/blob/v3/DESIGN.md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https://github.com/JiJunmo/harmonySecAnalyzer/blob/v3/.opencode/commands/audit.md</a:t>
            </a:r>
          </a:p>
          <a:p>
            <a:r>
              <a:t>- https://github.com/JiJunmo/harmonySecAnalyzer/blob/v3/README.md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https://github.com/JiJunmo/harmonySecAnalyzer/blob/v3/DESIGN.md</a:t>
            </a:r>
          </a:p>
          <a:p>
            <a:r>
              <a:t>- https://github.com/JiJunmo/harmonySecAnalyzer/tree/v3/.opencode/skills/audit-orchestration/scripts/audit_runtime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https://github.com/JiJunmo/harmonySecAnalyzer/blob/v3/.opencode/commands/audit.md</a:t>
            </a:r>
          </a:p>
          <a:p>
            <a:r>
              <a:t>- https://github.com/JiJunmo/harmonySecAnalyzer/blob/v3/README.md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https://github.com/JiJunmo/harmonySecAnalyzer/blob/main/README.md</a:t>
            </a:r>
          </a:p>
          <a:p>
            <a:r>
              <a:t>- https://github.com/JiJunmo/harmonySecAnalyzer/blob/v3/DESIGN.md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3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9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harmonySecAnalyzer v3
从路径脚本到可控审计系统</a:t>
            </a:r>
            <a:endParaRPr sz="49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700" y="4742180"/>
            <a:ext cx="6776085" cy="108013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→ v3 真实实现对比  |  架构、路径发现、漏洞验证与使用体验</a:t>
            </a:r>
            <a:endParaRPr sz="18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HARMONYOS WHITE-BOX SECURITY</a:t>
            </a:r>
            <a:endParaRPr sz="1650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906000" y="0"/>
            <a:ext cx="2286000" cy="6858000"/>
          </a:xfrm>
          <a:prstGeom prst="rect">
            <a:avLst/>
          </a:prstGeom>
          <a:solidFill>
            <a:srgbClr val="F2F4F5"/>
          </a:solidFill>
          <a:ln w="0">
            <a:solidFill>
              <a:srgbClr val="F2F4F5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0" y="0"/>
            <a:ext cx="2286000" cy="2286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0" y="2286000"/>
            <a:ext cx="2286000" cy="2286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0" y="4572000"/>
            <a:ext cx="2286000" cy="2286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02</a:t>
            </a: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不是增加几条规则，而是重做审计系统的控制方式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架构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workflow + skills
→ 多智能体 + SQLite 状态机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路径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entry × sink 候选拼接
→ 从真实入口开放式向下发现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验证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悲观对抗提示词
→ 六维可靠性验证 + 分类判定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 易用性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三种审计范围 + 运行中 HTML 报表
→ 可定点、可观察、可恢复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section-rail-2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8" name="section-tag-2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升级总览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03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基线：四个结构性痛点限制覆盖率与准确性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 1</a:t>
            </a:r>
            <a:endParaRPr sz="12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 2</a:t>
            </a:r>
            <a:endParaRPr sz="12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 3–4</a:t>
            </a:r>
            <a:endParaRPr sz="12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Placeholder-16-11"/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串行分发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依赖提示词逐条派发审计路径；上下文与任务状态不稳定，审计路径容易遗漏。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Placeholder-16-12"/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规则依赖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过度依赖预设模式库与正则表；已知规则覆盖清晰，但未知漏洞容易漏报。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Placeholder-16-13"/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路径 / 04 验证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entry × sink 只能稳定获取单组件内可达路径，跨组件能力弱；缺少可靠结果验证，正常行为容易被误判。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section-rail-3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14" name="section-tag-3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基线</a:t>
            </a:r>
            <a:endParaRPr sz="9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04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架构：确定性控制面包住 AI 的语义能力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8" name="Google-Shape-2259-p159-4"/>
          <p:cNvCxnSpPr/>
          <p:nvPr/>
        </p:nvCxnSpPr>
        <p:spPr>
          <a:xfrm>
            <a:off x="337757" y="5341620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Rounded-Rectangle-19-8"/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8" name="Content-Placeholder-8-9"/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前置建模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脚本解析多 module.json5 / Manifest；Atlas 先完成全量索引；按组件生成分析单元。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-Rectangle-21-10"/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0" name="Content-Placeholder-8-11"/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证据生产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组件语义 Agent 发现真实入口、敏感行为和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跨组件调用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；脚本确定性连接组件关系。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-Rectangle-23-12"/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</p:sp>
      <p:sp>
        <p:nvSpPr>
          <p:cNvPr id="12" name="Content-Placeholder-8-13"/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验证与交付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 Validator 回读源码执行六维验证；SQLite 保存状态；脚本持续生成 HTML 并最终导出报告。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-Placeholder-16-14"/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语义分析</a:t>
            </a:r>
            <a:endParaRPr sz="12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-Placeholder-16-15"/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确定性事实</a:t>
            </a:r>
            <a:endParaRPr sz="12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-Placeholder-16-16"/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可恢复交付</a:t>
            </a:r>
            <a:endParaRPr sz="12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section-rail-4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17" name="section-tag-4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架构升级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05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架构升级的实质：从“文件驱动流程”到“状态驱动审计”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 |  workflow + skills</a:t>
            </a:r>
            <a:endParaRPr sz="20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运行状态散落在多个 JSON 文件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阶段衔接依赖工作流上下文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重试与汇总更依赖提示词纪律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 |  agents + state machine</a:t>
            </a:r>
            <a:endParaRPr sz="202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run.db 是唯一可变事实源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任务输入/输出均有 schema 和事务边界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失败隔离、批量调度、报告门控由脚本负责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对比结论</a:t>
            </a:r>
            <a:endParaRPr sz="142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的优势是轻量、直观，适合小项目快速跑通；v3 的重点是让长时间、多任务审计具备明确边界、失败恢复和证据一致性。</a:t>
            </a:r>
            <a:endParaRPr sz="1575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升级目标不是让 Agent 更多，而是让每个 Agent 只负责可验证的一段工作。</a:t>
            </a:r>
            <a:endParaRPr sz="15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section-rail-5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11" name="section-tag-5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架构对比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06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路径模式升级：矩阵擅长枚举，开放发现擅长理解真实调用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 |  entry × sink</a:t>
            </a:r>
            <a:endParaRPr sz="2100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先枚举候选组合，再验证是否可达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已知规则覆盖清晰，但未知路径容易漏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同一根因可能被多入口/多 sink 重复表达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 |  entry-first discovery</a:t>
            </a:r>
            <a:endParaRPr sz="2100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从真实外部入口沿调用关系向下探索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敏感行为由代码语义决定，不预设终点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组件内合并分支，</a:t>
            </a: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跨组件仅记录调用关系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为什么要换</a:t>
            </a:r>
            <a:endParaRPr sz="14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entry × sink 将“入口类型”和“敏感操作类型”预先组合，适合覆盖已知模式；但候选规模天然接近 E × S，共享 handler、别名入口和业务分支容易被重复拆成多条任务。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先回答“这个入口实际会走到哪里”，再判断途中出现的安全行为，不要求危险路径提前存在于矩阵里。</a:t>
            </a:r>
            <a:endParaRPr sz="15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section-rail-6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11" name="section-tag-6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路径模式</a:t>
            </a:r>
            <a:endParaRPr sz="9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07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当前路径发现：一个组件一次读懂，必要时再连接组件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1</a:t>
            </a:r>
            <a:endParaRPr sz="12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2</a:t>
            </a:r>
            <a:endParaRPr sz="12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3</a:t>
            </a:r>
            <a:endParaRPr sz="12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Placeholder-16-11"/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组件内开放探索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分析调用、条件、数据变化和敏感操作；按“操作位置 + 受控属性”合并业务分支。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Placeholder-16-12"/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确认真实入口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JSON5 暴露事实出发，Atlas 定位生命周期、路由、事件订阅等真正接收外部输入的位置。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Placeholder-16-13"/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跨组件确定性连接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遇到组件边界只记录目标和参数映射；脚本构图并保留最短外部可达证据链。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section-rail-7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14" name="section-tag-7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路径发现</a:t>
            </a:r>
            <a:endParaRPr sz="9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08</a:t>
            </a: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避免路径爆炸：控制分析单元，而不是粗暴截断调用深度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一个组件，一个语义任务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 Ability / ExtensionAbility 的分支在一次上下文中理解，公共 handler 不重复读。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只在安全语义变化时拆分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仅当敏感操作位置、关键受控参数集合，或安全边界 / 影响类型发生变化时拆分。普通条件分支、入口别名和共享 handler 不拆。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跨组件先停、再连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 到组件边界即停止；</a:t>
            </a: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跨组件调用</a:t>
            </a: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由脚本统一构图，防止递归展开。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按模式缩小起点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全量、能力、组件三种命令共用一条流水线，只改变初始分析范围。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section-rail-8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8" name="section-tag-8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规模控制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09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跨组件分析：v2 能继续上下文，但没有通用的数据流连接机制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 |  上下文延续</a:t>
            </a:r>
            <a:endParaRPr sz="2100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跨边界关系主要存在于工作流上下文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缺少参数映射和控制性变化模型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下游组件结果难与上游入口确定性合并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 |  </a:t>
            </a:r>
            <a:r>
              <a:rPr sz="21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调用记录</a:t>
            </a:r>
            <a:r>
              <a:rPr sz="21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+ 图连接</a:t>
            </a:r>
            <a:endParaRPr sz="2100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每个组件只分析一次，</a:t>
            </a: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边界处记录跨组件调用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Python 按参数映射连接组件局部结果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连接后的完整证据链再进入六维验证</a:t>
            </a:r>
            <a:endParaRPr sz="1350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关键区别</a:t>
            </a:r>
            <a:endParaRPr sz="14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v2 可以在少数已知场景中把 Ability → WebView 等关系作为后续审计上下文，但 attack_map 仍以入口与敏感操作候选为中心，没有统一表达“组件 A 的哪个参数，以什么条件，传到组件 B 的哪个输入”。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因此它不能把多个组件独立分析后的证据，稳定复用为一条跨组件攻击路径。</a:t>
            </a:r>
            <a:endParaRPr sz="15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section-rail-9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11" name="section-tag-9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跨组件分析</a:t>
            </a:r>
            <a:endParaRPr sz="9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10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跨组件关联的两段职责：Agent 记录边界，Python 连接证据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Agent  |  </a:t>
            </a:r>
            <a:r>
              <a:rPr sz="20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记录跨组件调用</a:t>
            </a:r>
            <a:endParaRPr sz="20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到组件边界停止，记录目标、位置、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条件和安全检查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保存 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上游参数 → 下游参数及转换方式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控制性保留或受限时继续；常量或无法确认时停止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Python  |  确定性关联</a:t>
            </a:r>
            <a:endParaRPr sz="202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仅从已确认的外部入口出发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按当前参数匹配下一次组件调用及下游敏感操作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275" b="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合成 外部入口 → 跨组件调用 → 敏感操作，再交给验证智能体</a:t>
            </a:r>
            <a:endParaRPr sz="1275" b="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同一个过程，两种职责</a:t>
            </a:r>
            <a:endParaRPr sz="14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 负责理解当前组件内的代码语义，并在边界处留下足够的结构化事实；Python 不重新读代码，只消费这些事实，判断外部输入能否沿同一受控属性到达下游敏感操作。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这样既保留 AI 的理解能力，又避免一个任务递归展开整个组件图。</a:t>
            </a:r>
            <a:endParaRPr sz="15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section-rail-10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1" name="section-tag-10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跨组件关联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11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示例：A → B → C 如何合成一条跨组件证据链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7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COMPONENT A</a:t>
            </a:r>
            <a:endParaRPr sz="12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COMPONENT B</a:t>
            </a:r>
            <a:endParaRPr sz="127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COMPONENT C</a:t>
            </a:r>
            <a:endParaRPr sz="12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Placeholder-16-11"/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中间组件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本地路由读取 uri；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2 将 uri 转为 targetUrl，控制性受限保留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，并记录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白名单安全检查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-Placeholder-16-12"/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外部入口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DeepLink 输入 want.parameters.url；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1 将 url 转为 uri，控制性保持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-Placeholder-16-13"/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敏感操作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本地敏感操作证明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targetUrl 到达 webview.loadUrl；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脚本合成 外部入口 → 调用 1 → 调用 2 → 敏感操作</a:t>
            </a: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00050" y="5676900"/>
            <a:ext cx="10934700" cy="400050"/>
          </a:xfrm>
          <a:prstGeom prst="roundRect">
            <a:avLst>
              <a:gd name="adj" fmla="val 14286"/>
            </a:avLst>
          </a:prstGeom>
          <a:solidFill>
            <a:srgbClr val="F2F4F5"/>
          </a:solidFill>
          <a:ln w="9525">
            <a:solidFill>
              <a:srgbClr val="E0E4E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5781675"/>
            <a:ext cx="1055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白名单只约束直接调用组件，不一定约束原始调用者；六维验证会结合身份与权限传播，判断是有效保护还是代理借权。</a:t>
            </a:r>
            <a:endParaRPr sz="12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section-rail-11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6" name="section-tag-11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连接示例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12</a:t>
            </a: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六维可靠性验证：把“看起来危险”拆成可核验的事实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Content-Placeholder-15-4"/>
          <p:cNvSpPr>
            <a:spLocks noGrp="1"/>
          </p:cNvSpPr>
          <p:nvPr/>
        </p:nvSpPr>
        <p:spPr>
          <a:xfrm>
            <a:off x="39366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防护可绕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权限、白名单、身份校验是否缺失或可绕过。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-Placeholder-16-5"/>
          <p:cNvSpPr>
            <a:spLocks noGrp="1"/>
          </p:cNvSpPr>
          <p:nvPr/>
        </p:nvSpPr>
        <p:spPr>
          <a:xfrm>
            <a:off x="3334988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 边界破坏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是否跨越了预期安全边界。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17-6"/>
          <p:cNvSpPr>
            <a:spLocks noGrp="1"/>
          </p:cNvSpPr>
          <p:nvPr/>
        </p:nvSpPr>
        <p:spPr>
          <a:xfrm>
            <a:off x="626440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⑥ 影响成立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是否形成具体、可解释的安全后果。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-Placeholder-18-7"/>
          <p:cNvSpPr>
            <a:spLocks noGrp="1"/>
          </p:cNvSpPr>
          <p:nvPr/>
        </p:nvSpPr>
        <p:spPr>
          <a:xfrm>
            <a:off x="9205722" y="4161092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分类输出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全维成立才确认漏洞；否则进入保护、业务、残余或证据不足。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业务基线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先区分正常业务能力、受保护暴露与真正越权。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-Placeholder-16-9"/>
          <p:cNvSpPr>
            <a:spLocks noGrp="1"/>
          </p:cNvSpPr>
          <p:nvPr/>
        </p:nvSpPr>
        <p:spPr>
          <a:xfrm>
            <a:off x="3334988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外部可达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攻击者是否能实际触发该入口。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ntent-Placeholder-17-10"/>
          <p:cNvSpPr>
            <a:spLocks noGrp="1"/>
          </p:cNvSpPr>
          <p:nvPr/>
        </p:nvSpPr>
        <p:spPr>
          <a:xfrm>
            <a:off x="626440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参数可控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关键安全参数是否受攻击者控制。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-Placeholder-18-11"/>
          <p:cNvSpPr>
            <a:spLocks noGrp="1"/>
          </p:cNvSpPr>
          <p:nvPr/>
        </p:nvSpPr>
        <p:spPr>
          <a:xfrm>
            <a:off x="9205722" y="2208086"/>
            <a:ext cx="2595944" cy="141560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65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路径闭合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证据是否真正到达敏感操作。</a:t>
            </a:r>
            <a:endParaRPr sz="135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section-rail-12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12" name="section-tag-12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漏洞验证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13</a:t>
            </a: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验证不是“六项打勾”游戏：结论分层，漏洞按根因归并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确认漏洞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六个维度均有充分证据；报告给出入口、数据流、防护缺口和具体影响。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保护 / 正常业务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外部可达或存在敏感函数并不自动等于漏洞；有效白名单、权限和业务边界会改变结论。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残余风险 / 证据不足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保留值得人工关注但尚不能确认的问题，避免把不确定性伪装成高危漏洞。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根因级 Finding</a:t>
            </a:r>
            <a:endParaRPr sz="210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用敏感操作位置、关键受控参数和被破坏边界标识根因；入口别名和分支成为证据路径。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section-rail-13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8" name="section-tag-13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误报治理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14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 /audit 命令，三种审计范围，共用同一条证据流水线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Google-Shape-558-p61-4"/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全量审计
/audit &lt;repo&gt;
覆盖全部识别到的组件，适合基线审计与最终验收。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Google-Shape-559-p61-5"/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能力定点
/audit ‐‐capability CAP-WEB-002 &lt;repo&gt;
只验证某类审计能力，适合规则补齐后的增量回归。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" name="Google-Shape-560-p61-6"/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组件定点
/audit ‐‐component EntryAbility &lt;repo&gt;
聚焦单个 Ability / ExtensionAbility，也可与能力参数组合。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" name="Google-Shape-561-p61-7"/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/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/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section-rail-14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0" name="section-tag-14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使用体验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15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HTML 报表：审计过程中持续生成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Picture-3-4-backing"/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/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从“最终文件”变成“运行中窗口”</a:t>
            </a:r>
            <a:endParaRPr sz="21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prepare 后立即创建 report.html
• 每次任务领取与结果归并后原子更新
• 用户手动刷新，避免自动跳回主视图
• 概览、攻击路径、项目结构、覆盖与缺口四个中文视图
• finalize 时再固化 Markdown 与完整 JSON 导出</a:t>
            </a:r>
            <a:endParaRPr sz="1500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section-rail-15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7" name="section-tag-15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可视化报告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57950" y="781050"/>
            <a:ext cx="5067300" cy="4781550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CDD3DA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457950" y="781050"/>
            <a:ext cx="5067300" cy="381000"/>
          </a:xfrm>
          <a:prstGeom prst="roundRect">
            <a:avLst>
              <a:gd name="adj" fmla="val 30000"/>
            </a:avLst>
          </a:prstGeom>
          <a:solidFill>
            <a:srgbClr val="171B22"/>
          </a:solidFill>
          <a:ln w="9525">
            <a:solidFill>
              <a:srgbClr val="171B2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48450" y="8763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HarmonyAppAnalyzerDemo  /  审计报告</a:t>
            </a:r>
            <a:endParaRPr sz="10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668000" y="885825"/>
            <a:ext cx="647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78E0C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78E0C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运行中</a:t>
            </a:r>
            <a:endParaRPr sz="975" b="1">
              <a:solidFill>
                <a:srgbClr val="78E0C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57950" y="1162050"/>
            <a:ext cx="1123950" cy="4400550"/>
          </a:xfrm>
          <a:prstGeom prst="roundRect">
            <a:avLst>
              <a:gd name="adj" fmla="val 0"/>
            </a:avLst>
          </a:prstGeom>
          <a:solidFill>
            <a:srgbClr val="F4F6F7"/>
          </a:solidFill>
          <a:ln w="9525">
            <a:solidFill>
              <a:srgbClr val="E0E4E7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572250" y="1381125"/>
            <a:ext cx="895350" cy="323850"/>
          </a:xfrm>
          <a:prstGeom prst="roundRect">
            <a:avLst>
              <a:gd name="adj" fmla="val 17647"/>
            </a:avLst>
          </a:prstGeom>
          <a:solidFill>
            <a:srgbClr val="DCEFEA"/>
          </a:solidFill>
          <a:ln w="9525">
            <a:solidFill>
              <a:srgbClr val="DCEF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86550" y="1457325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概览</a:t>
            </a:r>
            <a:endParaRPr sz="97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86550" y="1952625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攻击路径</a:t>
            </a:r>
            <a:endParaRPr sz="975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86550" y="2447925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项目结构</a:t>
            </a:r>
            <a:endParaRPr sz="975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86550" y="2943225"/>
            <a:ext cx="78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覆盖与缺口</a:t>
            </a:r>
            <a:endParaRPr sz="975" b="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1381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项目概览</a:t>
            </a:r>
            <a:endParaRPr sz="1650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810500" y="1809750"/>
            <a:ext cx="1028700" cy="800100"/>
          </a:xfrm>
          <a:prstGeom prst="roundRect">
            <a:avLst>
              <a:gd name="adj" fmla="val 9524"/>
            </a:avLst>
          </a:prstGeom>
          <a:solidFill>
            <a:srgbClr val="F7F8F9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943850" y="19240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02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2025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43850" y="22764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外部组件</a:t>
            </a:r>
            <a:endParaRPr sz="90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972550" y="1809750"/>
            <a:ext cx="1028700" cy="800100"/>
          </a:xfrm>
          <a:prstGeom prst="roundRect">
            <a:avLst>
              <a:gd name="adj" fmla="val 9524"/>
            </a:avLst>
          </a:prstGeom>
          <a:solidFill>
            <a:srgbClr val="F7F8F9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05900" y="19240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02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sz="202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05900" y="22764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证据路径</a:t>
            </a:r>
            <a:endParaRPr sz="90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134600" y="1809750"/>
            <a:ext cx="1028700" cy="800100"/>
          </a:xfrm>
          <a:prstGeom prst="roundRect">
            <a:avLst>
              <a:gd name="adj" fmla="val 9524"/>
            </a:avLst>
          </a:prstGeom>
          <a:solidFill>
            <a:srgbClr val="F7F8F9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267950" y="1924050"/>
            <a:ext cx="76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0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2025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267950" y="22764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确认漏洞</a:t>
            </a:r>
            <a:endParaRPr sz="90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0" y="28575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分析进度</a:t>
            </a:r>
            <a:endParaRPr sz="112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810500" y="3162300"/>
            <a:ext cx="3333750" cy="114300"/>
          </a:xfrm>
          <a:prstGeom prst="roundRect">
            <a:avLst>
              <a:gd name="adj" fmla="val 50000"/>
            </a:avLst>
          </a:prstGeom>
          <a:solidFill>
            <a:srgbClr val="E4E8EB"/>
          </a:solidFill>
          <a:ln w="9525">
            <a:solidFill>
              <a:srgbClr val="E4E8EB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10500" y="3162300"/>
            <a:ext cx="2400300" cy="114300"/>
          </a:xfrm>
          <a:prstGeom prst="roundRect">
            <a:avLst>
              <a:gd name="adj" fmla="val 50000"/>
            </a:avLst>
          </a:prstGeom>
          <a:solidFill>
            <a:srgbClr val="007F6D"/>
          </a:solidFill>
          <a:ln w="9525">
            <a:solidFill>
              <a:srgbClr val="007F6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810500" y="3371850"/>
            <a:ext cx="3333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5D667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组件语义  9/12    六维验证  6/8</a:t>
            </a:r>
            <a:endParaRPr sz="900">
              <a:solidFill>
                <a:srgbClr val="5D667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810500" y="37623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最新发现</a:t>
            </a:r>
            <a:endParaRPr sz="112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810500" y="4095750"/>
            <a:ext cx="3333750" cy="323850"/>
          </a:xfrm>
          <a:prstGeom prst="roundRect">
            <a:avLst>
              <a:gd name="adj" fmla="val 17647"/>
            </a:avLst>
          </a:prstGeom>
          <a:solidFill>
            <a:srgbClr val="FAFBFB"/>
          </a:solidFill>
          <a:ln w="9525">
            <a:solidFill>
              <a:srgbClr val="E5E8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924800" y="41719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跨组件未授权调用</a:t>
            </a:r>
            <a:endParaRPr sz="90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287000" y="417195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高危</a:t>
            </a:r>
            <a:endParaRPr sz="900" b="1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10500" y="4505325"/>
            <a:ext cx="3333750" cy="323850"/>
          </a:xfrm>
          <a:prstGeom prst="roundRect">
            <a:avLst>
              <a:gd name="adj" fmla="val 17647"/>
            </a:avLst>
          </a:prstGeom>
          <a:solidFill>
            <a:srgbClr val="FAFBFB"/>
          </a:solidFill>
          <a:ln w="9525">
            <a:solidFill>
              <a:srgbClr val="E5E8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924800" y="4581525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WebView 白名单保护</a:t>
            </a:r>
            <a:endParaRPr sz="90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287000" y="4581525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已保护</a:t>
            </a:r>
            <a:endParaRPr sz="900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810500" y="4914900"/>
            <a:ext cx="3333750" cy="323850"/>
          </a:xfrm>
          <a:prstGeom prst="roundRect">
            <a:avLst>
              <a:gd name="adj" fmla="val 17647"/>
            </a:avLst>
          </a:prstGeom>
          <a:solidFill>
            <a:srgbClr val="FAFBFB"/>
          </a:solidFill>
          <a:ln w="9525">
            <a:solidFill>
              <a:srgbClr val="E5E8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924800" y="49911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CommonEvent 参数注入</a:t>
            </a:r>
            <a:endParaRPr sz="900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287000" y="4991100"/>
            <a:ext cx="723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中危</a:t>
            </a:r>
            <a:endParaRPr sz="900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t>16</a:t>
            </a: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下一阶段推进三项关键能力</a:t>
            </a:r>
            <a:endParaRPr sz="27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Google-Shape-558-p61-4"/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PoC 与真机自动验证
静态结论 → 运行证据
生成可执行 PoC，自动完成构建、安装、触发与结果采集。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" name="Google-Shape-559-p61-5"/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Native / NAPI 分析
ArkTS → C / C++
连接 ArkTS 与原生代码边界，继续追踪输入、权限与敏感操作。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5" name="Google-Shape-560-p61-6"/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 b="0">
                <a:solidFill>
                  <a:srgbClr val="171B22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大型项目增量审计
全量重跑 → 影响范围
复用索引和分析结果，只重审受代码变更影响的组件与调用链。</a:t>
            </a:r>
            <a:endParaRPr sz="1725" b="0">
              <a:solidFill>
                <a:srgbClr val="171B22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6" name="Google-Shape-561-p61-7"/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/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/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section-rail-14"/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0" name="section-tag-14"/>
          <p:cNvSpPr>
            <a:spLocks noGrp="1"/>
          </p:cNvSpPr>
          <p:nvPr/>
        </p:nvSpPr>
        <p:spPr>
          <a:xfrm>
            <a:off x="9525000" y="36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</a:t>
            </a:r>
            <a:endParaRPr sz="975" b="1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2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875" b="1">
                <a:solidFill>
                  <a:srgbClr val="171B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理解代码
脚本控制流程
数据库保存证据</a:t>
            </a:r>
            <a:endParaRPr sz="4875" b="1">
              <a:solidFill>
                <a:srgbClr val="171B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E85D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路径：候选枚举 → 真实入口发现</a:t>
            </a:r>
            <a:endParaRPr sz="1575" b="0">
              <a:solidFill>
                <a:srgbClr val="E85D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验证：危险直觉 → 六维证据</a:t>
            </a:r>
            <a:endParaRPr sz="1575" b="0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0">
                <a:solidFill>
                  <a:srgbClr val="2F6FE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交付：最终文件 → 运行中窗口</a:t>
            </a:r>
            <a:endParaRPr sz="1575" b="0">
              <a:solidFill>
                <a:srgbClr val="2F6FE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7F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V3 UPGRADE</a:t>
            </a:r>
            <a:endParaRPr sz="1650" b="1">
              <a:solidFill>
                <a:srgbClr val="007F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0"/>
            <a:ext cx="1905000" cy="2286000"/>
          </a:xfrm>
          <a:prstGeom prst="rect">
            <a:avLst/>
          </a:prstGeom>
          <a:solidFill>
            <a:srgbClr val="007F6D"/>
          </a:solidFill>
          <a:ln w="0">
            <a:solidFill>
              <a:srgbClr val="007F6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0" y="2286000"/>
            <a:ext cx="1905000" cy="2286000"/>
          </a:xfrm>
          <a:prstGeom prst="rect">
            <a:avLst/>
          </a:prstGeom>
          <a:solidFill>
            <a:srgbClr val="E85D4A"/>
          </a:solidFill>
          <a:ln w="0">
            <a:solidFill>
              <a:srgbClr val="E85D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0" y="4572000"/>
            <a:ext cx="1905000" cy="22860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3991</Words>
  <Application>WPS 演示</Application>
  <PresentationFormat>Converted Presentation</PresentationFormat>
  <Paragraphs>349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Helvetica Neue</vt:lpstr>
      <vt:lpstr>PingFang SC</vt:lpstr>
      <vt:lpstr>Menlo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Menlo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185****5135</cp:lastModifiedBy>
  <cp:revision>1</cp:revision>
  <dcterms:created xsi:type="dcterms:W3CDTF">2026-07-28T06:32:48Z</dcterms:created>
  <dcterms:modified xsi:type="dcterms:W3CDTF">2026-07-28T06:32:48Z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9ADEAD59D08370E2104D686AFBB9F171_42</vt:lpwstr>
  </property>
  <property fmtid="{D5CDD505-2E9C-101B-9397-08002B2CF9AE}" pid="3" name="KSOProductBuildVer">
    <vt:lpwstr>2052-12.1.25895.25895</vt:lpwstr>
  </property>
</Properties>
</file>