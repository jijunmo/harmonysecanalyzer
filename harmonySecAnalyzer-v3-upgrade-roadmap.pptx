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e2de63ef02b4e76" /><Relationship Type="http://schemas.openxmlformats.org/officeDocument/2006/relationships/extended-properties" Target="/docProps/app.xml" Id="R32d234af55b342b1" /><Relationship Type="http://schemas.openxmlformats.org/officeDocument/2006/relationships/officeDocument" Target="/ppt/presentation.xml" Id="R8910df3ed95e41c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a77a8e70e94081"/>
  </p:sldMasterIdLst>
  <p:notesMasterIdLst>
    <p:notesMasterId xmlns:r="http://schemas.openxmlformats.org/officeDocument/2006/relationships" r:id="R8d4f01bb06524c33"/>
  </p:notesMasterIdLst>
  <p:sldIdLst>
    <p:sldId xmlns:r="http://schemas.openxmlformats.org/officeDocument/2006/relationships" id="256" r:id="R19be2ae651004e54"/>
    <p:sldId xmlns:r="http://schemas.openxmlformats.org/officeDocument/2006/relationships" id="257" r:id="Rf9aa9414adc44b05"/>
    <p:sldId xmlns:r="http://schemas.openxmlformats.org/officeDocument/2006/relationships" id="258" r:id="R4b9c4e3778f7495a"/>
    <p:sldId xmlns:r="http://schemas.openxmlformats.org/officeDocument/2006/relationships" id="259" r:id="R71915b8dd75447f5"/>
    <p:sldId xmlns:r="http://schemas.openxmlformats.org/officeDocument/2006/relationships" id="260" r:id="R1a1b19df4494444b"/>
    <p:sldId xmlns:r="http://schemas.openxmlformats.org/officeDocument/2006/relationships" id="261" r:id="R52c96cb965814963"/>
    <p:sldId xmlns:r="http://schemas.openxmlformats.org/officeDocument/2006/relationships" id="262" r:id="Ra2356f05c2b3475a"/>
    <p:sldId xmlns:r="http://schemas.openxmlformats.org/officeDocument/2006/relationships" id="263" r:id="R272ef32cb6614564"/>
    <p:sldId xmlns:r="http://schemas.openxmlformats.org/officeDocument/2006/relationships" id="264" r:id="R39ed3c8927e14845"/>
    <p:sldId xmlns:r="http://schemas.openxmlformats.org/officeDocument/2006/relationships" id="265" r:id="Re0a7ba033e6143f9"/>
    <p:sldId xmlns:r="http://schemas.openxmlformats.org/officeDocument/2006/relationships" id="266" r:id="R9469d228722e47c4"/>
    <p:sldId xmlns:r="http://schemas.openxmlformats.org/officeDocument/2006/relationships" id="267" r:id="R4f0f21bcde1f4bf7"/>
    <p:sldId xmlns:r="http://schemas.openxmlformats.org/officeDocument/2006/relationships" id="268" r:id="R1db46e3b7f4343b6"/>
    <p:sldId xmlns:r="http://schemas.openxmlformats.org/officeDocument/2006/relationships" id="269" r:id="R1c3b39f7a6404899"/>
    <p:sldId xmlns:r="http://schemas.openxmlformats.org/officeDocument/2006/relationships" id="270" r:id="R87aedd5c326b48b7"/>
    <p:sldId xmlns:r="http://schemas.openxmlformats.org/officeDocument/2006/relationships" id="271" r:id="R8120313fe81e48d2"/>
    <p:sldId xmlns:r="http://schemas.openxmlformats.org/officeDocument/2006/relationships" id="272" r:id="R5583589fed934a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cbf7a928164827" /><Relationship Type="http://schemas.openxmlformats.org/officeDocument/2006/relationships/slideMaster" Target="/ppt/slideMasters/slideMaster1.xml" Id="R01a77a8e70e94081" /><Relationship Type="http://schemas.openxmlformats.org/officeDocument/2006/relationships/notesMaster" Target="/ppt/notesMasters/notesMaster1.xml" Id="R8d4f01bb06524c33" /><Relationship Type="http://schemas.openxmlformats.org/officeDocument/2006/relationships/presProps" Target="/ppt/presProps.xml" Id="Rc16ca009cef1439f" /><Relationship Type="http://schemas.openxmlformats.org/officeDocument/2006/relationships/viewProps" Target="/ppt/viewProps.xml" Id="R02083fa8943a462f" /><Relationship Type="http://schemas.openxmlformats.org/officeDocument/2006/relationships/tableStyles" Target="/ppt/tableStyles.xml" Id="R96863982d0ea409d" /><Relationship Type="http://schemas.openxmlformats.org/officeDocument/2006/relationships/slide" Target="/ppt/slides/slide1.xml" Id="R19be2ae651004e54" /><Relationship Type="http://schemas.openxmlformats.org/officeDocument/2006/relationships/slide" Target="/ppt/slides/slide2.xml" Id="Rf9aa9414adc44b05" /><Relationship Type="http://schemas.openxmlformats.org/officeDocument/2006/relationships/slide" Target="/ppt/slides/slide3.xml" Id="R4b9c4e3778f7495a" /><Relationship Type="http://schemas.openxmlformats.org/officeDocument/2006/relationships/slide" Target="/ppt/slides/slide4.xml" Id="R71915b8dd75447f5" /><Relationship Type="http://schemas.openxmlformats.org/officeDocument/2006/relationships/slide" Target="/ppt/slides/slide5.xml" Id="R1a1b19df4494444b" /><Relationship Type="http://schemas.openxmlformats.org/officeDocument/2006/relationships/slide" Target="/ppt/slides/slide6.xml" Id="R52c96cb965814963" /><Relationship Type="http://schemas.openxmlformats.org/officeDocument/2006/relationships/slide" Target="/ppt/slides/slide7.xml" Id="Ra2356f05c2b3475a" /><Relationship Type="http://schemas.openxmlformats.org/officeDocument/2006/relationships/slide" Target="/ppt/slides/slide8.xml" Id="R272ef32cb6614564" /><Relationship Type="http://schemas.openxmlformats.org/officeDocument/2006/relationships/slide" Target="/ppt/slides/slide9.xml" Id="R39ed3c8927e14845" /><Relationship Type="http://schemas.openxmlformats.org/officeDocument/2006/relationships/slide" Target="/ppt/slides/slide10.xml" Id="Re0a7ba033e6143f9" /><Relationship Type="http://schemas.openxmlformats.org/officeDocument/2006/relationships/slide" Target="/ppt/slides/slide11.xml" Id="R9469d228722e47c4" /><Relationship Type="http://schemas.openxmlformats.org/officeDocument/2006/relationships/slide" Target="/ppt/slides/slide12.xml" Id="R4f0f21bcde1f4bf7" /><Relationship Type="http://schemas.openxmlformats.org/officeDocument/2006/relationships/slide" Target="/ppt/slides/slide13.xml" Id="R1db46e3b7f4343b6" /><Relationship Type="http://schemas.openxmlformats.org/officeDocument/2006/relationships/slide" Target="/ppt/slides/slide14.xml" Id="R1c3b39f7a6404899" /><Relationship Type="http://schemas.openxmlformats.org/officeDocument/2006/relationships/slide" Target="/ppt/slides/slide15.xml" Id="R87aedd5c326b48b7" /><Relationship Type="http://schemas.openxmlformats.org/officeDocument/2006/relationships/slide" Target="/ppt/slides/slide16.xml" Id="R8120313fe81e48d2" /><Relationship Type="http://schemas.openxmlformats.org/officeDocument/2006/relationships/slide" Target="/ppt/slides/slide17.xml" Id="R5583589fed934a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e674c1e760451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3f664d6cdb477d" /><Relationship Type="http://schemas.openxmlformats.org/officeDocument/2006/relationships/notesMaster" Target="/ppt/notesMasters/notesMaster1.xml" Id="R38f83d0d544943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44b01677d848ac" /><Relationship Type="http://schemas.openxmlformats.org/officeDocument/2006/relationships/notesMaster" Target="/ppt/notesMasters/notesMaster1.xml" Id="Ra50af1bb5f3c4e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4fc7b723db41e6" /><Relationship Type="http://schemas.openxmlformats.org/officeDocument/2006/relationships/notesMaster" Target="/ppt/notesMasters/notesMaster1.xml" Id="R73deae2116d344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97a8ed3271c41a3" /><Relationship Type="http://schemas.openxmlformats.org/officeDocument/2006/relationships/notesMaster" Target="/ppt/notesMasters/notesMaster1.xml" Id="Rc23491499f9248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e0e3d85f96406c" /><Relationship Type="http://schemas.openxmlformats.org/officeDocument/2006/relationships/notesMaster" Target="/ppt/notesMasters/notesMaster1.xml" Id="R37dd7646f5eb40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7b639d4cb44d40" /><Relationship Type="http://schemas.openxmlformats.org/officeDocument/2006/relationships/notesMaster" Target="/ppt/notesMasters/notesMaster1.xml" Id="R847721b1de1648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fe2679cd904371" /><Relationship Type="http://schemas.openxmlformats.org/officeDocument/2006/relationships/notesMaster" Target="/ppt/notesMasters/notesMaster1.xml" Id="R3ebb8b88ceab43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7a482f434664808" /><Relationship Type="http://schemas.openxmlformats.org/officeDocument/2006/relationships/notesMaster" Target="/ppt/notesMasters/notesMaster1.xml" Id="R9b7dc9b3a83742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4e2b2fa05c24218" /><Relationship Type="http://schemas.openxmlformats.org/officeDocument/2006/relationships/notesMaster" Target="/ppt/notesMasters/notesMaster1.xml" Id="Rec3907dbf24d45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59e884a662f4f5f" /><Relationship Type="http://schemas.openxmlformats.org/officeDocument/2006/relationships/notesMaster" Target="/ppt/notesMasters/notesMaster1.xml" Id="Re3d17d86339f431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d869795fb474fc2" /><Relationship Type="http://schemas.openxmlformats.org/officeDocument/2006/relationships/notesMaster" Target="/ppt/notesMasters/notesMaster1.xml" Id="R1d31f257a1c14ac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a0595b81ee74f55" /><Relationship Type="http://schemas.openxmlformats.org/officeDocument/2006/relationships/notesMaster" Target="/ppt/notesMasters/notesMaster1.xml" Id="Rfcc99411ea74466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1c34e954ecf434f" /><Relationship Type="http://schemas.openxmlformats.org/officeDocument/2006/relationships/notesMaster" Target="/ppt/notesMasters/notesMaster1.xml" Id="Rc9933231ef254c9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a43118c017949a9" /><Relationship Type="http://schemas.openxmlformats.org/officeDocument/2006/relationships/notesMaster" Target="/ppt/notesMasters/notesMaster1.xml" Id="R63c27dd4a1624a9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292e594b79047aa" /><Relationship Type="http://schemas.openxmlformats.org/officeDocument/2006/relationships/notesMaster" Target="/ppt/notesMasters/notesMaster1.xml" Id="Rb285cfa49fd2407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9e0d54c6ded4c2f" /><Relationship Type="http://schemas.openxmlformats.org/officeDocument/2006/relationships/notesMaster" Target="/ppt/notesMasters/notesMaster1.xml" Id="Rf406eddf5753408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77d4ed100444b67" /><Relationship Type="http://schemas.openxmlformats.org/officeDocument/2006/relationships/notesMaster" Target="/ppt/notesMasters/notesMaster1.xml" Id="R0348e5c5458c43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https://github.com/JiJunmo/harmonySecAnalyzer/tree/main</a:t>
            </a:r>
          </a:p>
          <a:p xmlns:a="http://schemas.openxmlformats.org/drawingml/2006/main">
            <a:r>
              <a:t>- https://github.com/JiJunmo/harmonySecAnalyzer/tree/v3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https://github.com/JiJunmo/harmonySecAnalyzer/blob/main/README.md</a:t>
            </a:r>
          </a:p>
          <a:p xmlns:a="http://schemas.openxmlformats.org/drawingml/2006/main">
            <a:r>
              <a:t>- https://github.com/JiJunmo/harmonySecAnalyzer/blob/v3/DESIGN.md</a:t>
            </a:r>
          </a:p>
          <a:p xmlns:a="http://schemas.openxmlformats.org/drawingml/2006/main">
            <a:r>
              <a:t>- https://github.com/JiJunmo/harmonySecAnalyzer/blob/v3/README.md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https://github.com/JiJunmo/harmonySecAnalyzer/blob/main/README.md</a:t>
            </a:r>
          </a:p>
          <a:p xmlns:a="http://schemas.openxmlformats.org/drawingml/2006/main">
            <a:r>
              <a:t>- https://github.com/JiJunmo/harmonySecAnalyzer/blob/main/agent_v2.md</a:t>
            </a:r>
          </a:p>
          <a:p xmlns:a="http://schemas.openxmlformats.org/drawingml/2006/main">
            <a:r>
              <a:t>- https://github.com/JiJunmo/harmonySecAnalyzer/tree/main/skills_v2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https://github.com/JiJunmo/harmonySecAnalyzer/blob/v3/DESIGN.md</a:t>
            </a:r>
          </a:p>
          <a:p xmlns:a="http://schemas.openxmlformats.org/drawingml/2006/main">
            <a:r>
              <a:t>- https://github.com/JiJunmo/harmonySecAnalyzer/blob/v3/.opencode/agents/harmony-auditor.md</a:t>
            </a:r>
          </a:p>
          <a:p xmlns:a="http://schemas.openxmlformats.org/drawingml/2006/main">
            <a:r>
              <a:t>- https://github.com/JiJunmo/harmonySecAnalyzer/tree/v3/.opencode/skills/audit-orchestration/scripts/audit_runtime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https://github.com/JiJunmo/harmonySecAnalyzer/blob/main/agent_v2.md</a:t>
            </a:r>
          </a:p>
          <a:p xmlns:a="http://schemas.openxmlformats.org/drawingml/2006/main">
            <a:r>
              <a:t>- https://github.com/JiJunmo/harmonySecAnalyzer/blob/v3/DESIGN.md</a:t>
            </a:r>
          </a:p>
          <a:p xmlns:a="http://schemas.openxmlformats.org/drawingml/2006/main">
            <a:r>
              <a:t>- https://github.com/JiJunmo/harmonySecAnalyzer/tree/v3/.opencode/skills/audit-orchestration/scripts/audit_runtime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https://github.com/JiJunmo/harmonySecAnalyzer/blob/main/README.md</a:t>
            </a:r>
          </a:p>
          <a:p xmlns:a="http://schemas.openxmlformats.org/drawingml/2006/main">
            <a:r>
              <a:t>- https://github.com/JiJunmo/harmonySecAnalyzer/blob/v3/DESIGN.md</a:t>
            </a:r>
          </a:p>
          <a:p xmlns:a="http://schemas.openxmlformats.org/drawingml/2006/main">
            <a:r>
              <a:t>- https://github.com/JiJunmo/harmonySecAnalyzer/blob/v3/.opencode/agents/component-semantic-analyzer.md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https://github.com/JiJunmo/harmonySecAnalyzer/blob/v3/DESIGN.md</a:t>
            </a:r>
          </a:p>
          <a:p xmlns:a="http://schemas.openxmlformats.org/drawingml/2006/main">
            <a:r>
              <a:t>- https://github.com/JiJunmo/harmonySecAnalyzer/blob/v3/.opencode/agents/component-semantic-analyzer.md</a:t>
            </a:r>
          </a:p>
          <a:p xmlns:a="http://schemas.openxmlformats.org/drawingml/2006/main">
            <a:r>
              <a:t>- https://github.com/JiJunmo/harmonySecAnalyzer/tree/v3/.opencode/skills/audit-orchestration/scripts/audit_runtime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https://github.com/JiJunmo/harmonySecAnalyzer/blob/v3/DESIGN.md</a:t>
            </a:r>
          </a:p>
          <a:p xmlns:a="http://schemas.openxmlformats.org/drawingml/2006/main">
            <a:r>
              <a:t>- https://github.com/JiJunmo/harmonySecAnalyzer/blob/v3/.opencode/commands/audit.md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https://github.com/JiJunmo/harmonySecAnalyzer/blob/main/README.md</a:t>
            </a:r>
          </a:p>
          <a:p xmlns:a="http://schemas.openxmlformats.org/drawingml/2006/main">
            <a:r>
              <a:t>- https://github.com/JiJunmo/harmonySecAnalyzer/blob/main/agent_v2.md</a:t>
            </a:r>
          </a:p>
          <a:p xmlns:a="http://schemas.openxmlformats.org/drawingml/2006/main">
            <a:r>
              <a:t>- https://github.com/JiJunmo/harmonySecAnalyzer/blob/v3/.opencode/agents/component-semantic-analyzer.md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https://github.com/JiJunmo/harmonySecAnalyzer/blob/v3/.opencode/agents/component-semantic-analyzer.md</a:t>
            </a:r>
          </a:p>
          <a:p xmlns:a="http://schemas.openxmlformats.org/drawingml/2006/main">
            <a:r>
              <a:t>- https://github.com/JiJunmo/harmonySecAnalyzer/blob/v3/.opencode/skills/audit-orchestration/config/schemas/component-semantic-result.schema.json</a:t>
            </a:r>
          </a:p>
          <a:p xmlns:a="http://schemas.openxmlformats.org/drawingml/2006/main">
            <a:r>
              <a:t>- https://github.com/JiJunmo/harmonySecAnalyzer/blob/v3/.opencode/skills/audit-orchestration/scripts/audit_runtime/correlation.py</a:t>
            </a:r>
          </a:p>
          <a:p xmlns:a="http://schemas.openxmlformats.org/drawingml/2006/main">
            <a:r>
              <a:t>- https://github.com/JiJunmo/harmonySecAnalyzer/blob/v3/.opencode/skills/audit-orchestration/scripts/audit_runtime/scheduler.py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https://github.com/JiJunmo/harmonySecAnalyzer/blob/v3/.opencode/skills/audit-orchestration/scripts/audit_runtime/correlation.py</a:t>
            </a:r>
          </a:p>
          <a:p xmlns:a="http://schemas.openxmlformats.org/drawingml/2006/main">
            <a:r>
              <a:t>- https://github.com/JiJunmo/harmonySecAnalyzer/blob/v3/.opencode/agents/exploitability-validator.md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https://github.com/JiJunmo/harmonySecAnalyzer/blob/main/agent_v2.md</a:t>
            </a:r>
          </a:p>
          <a:p xmlns:a="http://schemas.openxmlformats.org/drawingml/2006/main">
            <a:r>
              <a:t>- https://github.com/JiJunmo/harmonySecAnalyzer/blob/v3/.opencode/agents/exploitability-validator.md</a:t>
            </a:r>
          </a:p>
          <a:p xmlns:a="http://schemas.openxmlformats.org/drawingml/2006/main">
            <a:r>
              <a:t>- https://github.com/JiJunmo/harmonySecAnalyzer/blob/v3/DESIGN.md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https://github.com/JiJunmo/harmonySecAnalyzer/blob/v3/.opencode/agents/exploitability-validator.md</a:t>
            </a:r>
          </a:p>
          <a:p xmlns:a="http://schemas.openxmlformats.org/drawingml/2006/main">
            <a:r>
              <a:t>- https://github.com/JiJunmo/harmonySecAnalyzer/blob/v3/DESIGN.md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.opencode/commands/audit.md</a:t>
            </a:r>
          </a:p>
          <a:p xmlns:a="http://schemas.openxmlformats.org/drawingml/2006/main">
            <a:r>
              <a:t>- Local README.md: audit command modes</a:t>
            </a:r>
          </a:p>
          <a:p xmlns:a="http://schemas.openxmlformats.org/drawingml/2006/main">
            <a:r>
              <a:t>- Local DESIGN.md: incremental audit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https://github.com/JiJunmo/harmonySecAnalyzer/blob/v3/DESIGN.md</a:t>
            </a:r>
          </a:p>
          <a:p xmlns:a="http://schemas.openxmlformats.org/drawingml/2006/main">
            <a:r>
              <a:t>- https://github.com/JiJunmo/harmonySecAnalyzer/tree/v3/.opencode/skills/audit-orchestration/scripts/audit_runtime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README.md: --incremental</a:t>
            </a:r>
          </a:p>
          <a:p xmlns:a="http://schemas.openxmlformats.org/drawingml/2006/main">
            <a:r>
              <a:t>- Local DESIGN.md: incremental audit</a:t>
            </a:r>
          </a:p>
          <a:p xmlns:a="http://schemas.openxmlformats.org/drawingml/2006/main">
            <a:r>
              <a:t>- Local project roadmap: PoC / device verification and Native / NAPI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https://github.com/JiJunmo/harmonySecAnalyzer/blob/main/README.md</a:t>
            </a:r>
          </a:p>
          <a:p xmlns:a="http://schemas.openxmlformats.org/drawingml/2006/main">
            <a:r>
              <a:t>- https://github.com/JiJunmo/harmonySecAnalyzer/blob/v3/DESIGN.md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f6e805b46a49f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0eba9c7bac4646" /><Relationship Type="http://schemas.openxmlformats.org/officeDocument/2006/relationships/slideLayout" Target="/ppt/slideLayouts/slideLayout1.xml" Id="Rbc748134b812489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748134b81248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995cc7bf74e1d" /><Relationship Type="http://schemas.openxmlformats.org/officeDocument/2006/relationships/notesSlide" Target="/ppt/notesSlides/notesSlide1.xml" Id="Rf8c2c6b75b0446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e5e8a1f3c24177" /><Relationship Type="http://schemas.openxmlformats.org/officeDocument/2006/relationships/notesSlide" Target="/ppt/notesSlides/notesSlide2.xml" Id="Rdf6194df55a544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ca81b8af974065" /><Relationship Type="http://schemas.openxmlformats.org/officeDocument/2006/relationships/notesSlide" Target="/ppt/notesSlides/notesSlide3.xml" Id="Rca2e411815264d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9af3c55d854a74" /><Relationship Type="http://schemas.openxmlformats.org/officeDocument/2006/relationships/notesSlide" Target="/ppt/notesSlides/notesSlide4.xml" Id="R7790bfca51cd47b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c7f24c2b244584" /><Relationship Type="http://schemas.openxmlformats.org/officeDocument/2006/relationships/notesSlide" Target="/ppt/notesSlides/notesSlide5.xml" Id="Rb022a7efae4c42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443a6976ce415f" /><Relationship Type="http://schemas.openxmlformats.org/officeDocument/2006/relationships/notesSlide" Target="/ppt/notesSlides/notesSlide6.xml" Id="Re509a110e97045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fb96fdc0144022" /><Relationship Type="http://schemas.openxmlformats.org/officeDocument/2006/relationships/notesSlide" Target="/ppt/notesSlides/notesSlide7.xml" Id="Raf4248f11d8c43f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45618d7cee4f6b" /><Relationship Type="http://schemas.openxmlformats.org/officeDocument/2006/relationships/notesSlide" Target="/ppt/notesSlides/notesSlide8.xml" Id="R6a4b6dc2a30d4bb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bef6f8bc06449f" /><Relationship Type="http://schemas.openxmlformats.org/officeDocument/2006/relationships/notesSlide" Target="/ppt/notesSlides/notesSlide9.xml" Id="R62a785c459b84d7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f668aecad24fcf" /><Relationship Type="http://schemas.openxmlformats.org/officeDocument/2006/relationships/notesSlide" Target="/ppt/notesSlides/notesSlide10.xml" Id="Rbfbe32561d9841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73fbee045b4248" /><Relationship Type="http://schemas.openxmlformats.org/officeDocument/2006/relationships/notesSlide" Target="/ppt/notesSlides/notesSlide11.xml" Id="Rf7ae19ce08bd4e6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ef820da1d944fb" /><Relationship Type="http://schemas.openxmlformats.org/officeDocument/2006/relationships/notesSlide" Target="/ppt/notesSlides/notesSlide12.xml" Id="Rbb3535239d884d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84d78bfe1547b8" /><Relationship Type="http://schemas.openxmlformats.org/officeDocument/2006/relationships/notesSlide" Target="/ppt/notesSlides/notesSlide13.xml" Id="R100de4ba31ea4db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5307be40504a19" /><Relationship Type="http://schemas.openxmlformats.org/officeDocument/2006/relationships/notesSlide" Target="/ppt/notesSlides/notesSlide14.xml" Id="R448e61faf7a64b0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29ba84d6b4ffd" /><Relationship Type="http://schemas.openxmlformats.org/officeDocument/2006/relationships/notesSlide" Target="/ppt/notesSlides/notesSlide15.xml" Id="R34acdc727b404ff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9732b5cd694ad3" /><Relationship Type="http://schemas.openxmlformats.org/officeDocument/2006/relationships/notesSlide" Target="/ppt/notesSlides/notesSlide16.xml" Id="Rec0ac65c1e8140f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d3af539f134f7e" /><Relationship Type="http://schemas.openxmlformats.org/officeDocument/2006/relationships/notesSlide" Target="/ppt/notesSlides/notesSlide17.xml" Id="R761d8c681b384d4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3-1">
            <a:extLst xmlns:a="http://schemas.openxmlformats.org/drawingml/2006/main">
              <a:ext uri="{FF2B5EF4-FFF2-40B4-BE49-F238E27FC236}">
                <a16:creationId xmlns:a16="http://schemas.microsoft.com/office/drawing/2014/main" id="{1B79261D-6EA0-45CF-A98F-6E4E2A45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spcAft>
                <a:spcPts val="500"/>
              </a:spcAft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harmonySecAnalyzer v3
从路径脚本到可控审计系统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93C822CE-4D14-459C-A010-A04E3CF6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742180"/>
            <a:ext cx="6776085" cy="10801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v2 → v3 真实实现对比  |  架构、路径发现、漏洞验证与使用体验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EE141338-71F2-4706-BA12-BC851A48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HARMONYOS WHITE-BOX SECURITY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C8FBDA7-9B3B-48AC-8F32-ACFD4C69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228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solidFill>
              <a:srgbClr val="F2F4F5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4A66D91-54C0-4E74-8251-BFB4A95E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2286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6D"/>
          </a:solidFill>
          <a:ln xmlns:a="http://schemas.openxmlformats.org/drawingml/2006/main" w="0">
            <a:solidFill>
              <a:srgbClr val="007F6D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E6D8E1C-AAA5-4043-A24B-0ABB301A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286000"/>
            <a:ext cx="2286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  <a:ln xmlns:a="http://schemas.openxmlformats.org/drawingml/2006/main" w="0">
            <a:solidFill>
              <a:srgbClr val="E85D4A"/>
            </a:solidFill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D070B7B-7035-4273-9426-F68B19E0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0"/>
            <a:ext cx="2286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6359936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D6D8B6F9-4BA4-4E28-94EB-E047E73B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FE1404D8-DD99-4753-A22C-8D686804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v3 不是增加几条规则，而是重做审计系统的控制方式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55BE41F2-8639-4B50-9A05-5A2C2C67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01  架构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workflow + skills
→ 多智能体 + SQLite 状态机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90BCD1C9-C105-4F31-B21A-2661681C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02  路径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entry × sink 候选拼接
→ 从真实入口开放式向下发现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BDACDAE9-5F6C-41FA-B6ED-C1E23E6F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03  验证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悲观对抗提示词
→ 六维可靠性验证 + 分类判定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B64F5C97-C7CC-4AD5-B26E-D9F3AFA4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04  易用性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三种审计范围 + 运行中 HTML 报表
→ 可定点、可观察、可恢复</a:t>
            </a:r>
          </a:p>
        </p:txBody>
      </p:sp>
      <p:sp>
        <p:nvSpPr>
          <p:cNvPr id="7" name="section-rail-2">
            <a:extLst xmlns:a="http://schemas.openxmlformats.org/drawingml/2006/main">
              <a:ext uri="{FF2B5EF4-FFF2-40B4-BE49-F238E27FC236}">
                <a16:creationId xmlns:a16="http://schemas.microsoft.com/office/drawing/2014/main" id="{80FC04A8-98A6-46E5-9280-096A72939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6D"/>
          </a:solidFill>
          <a:ln xmlns:a="http://schemas.openxmlformats.org/drawingml/2006/main" w="0">
            <a:solidFill>
              <a:srgbClr val="007F6D"/>
            </a:solidFill>
            <a:prstDash val="solid"/>
          </a:ln>
        </p:spPr>
      </p:sp>
      <p:sp>
        <p:nvSpPr>
          <p:cNvPr id="8" name="section-tag-2">
            <a:extLst xmlns:a="http://schemas.openxmlformats.org/drawingml/2006/main">
              <a:ext uri="{FF2B5EF4-FFF2-40B4-BE49-F238E27FC236}">
                <a16:creationId xmlns:a16="http://schemas.microsoft.com/office/drawing/2014/main" id="{9CBED9D6-6A0C-44F2-875E-8D498BB5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07F6D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升级总览</a:t>
            </a:r>
          </a:p>
        </p:txBody>
      </p:sp>
    </p:spTree>
    <p:extLst>
      <p:ext uri="{BB962C8B-B14F-4D97-AF65-F5344CB8AC3E}">
        <p14:creationId xmlns:p14="http://schemas.microsoft.com/office/powerpoint/2010/main" val="174196854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4F720456-D4C5-4B66-848A-22BB04358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454DEA79-2837-4607-9A56-799056D5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v2 基线：四个结构性痛点限制覆盖率与准确性</a:t>
            </a:r>
          </a:p>
        </p:txBody>
      </p:sp>
      <p:cxnSp>
        <p:nvCxnSpPr>
          <p:cNvPr id="41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3DF1EEE6-93A5-4179-ABE8-F40A25C3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7DF35B44-CD35-44F5-91A3-AC9A128C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A0CFD23C-5857-40F4-A17B-AD235B93C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C1210FD9-3498-472D-B10A-6BEC7BE2B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痛点 1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0F60377C-06CF-4ED1-8863-EB5F0FB2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痛点 2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D8413E19-0E91-4991-82C0-A8FF45E6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2F6FED"/>
                </a:solidFill>
                <a:latin typeface="PingFang SC"/>
                <a:ea typeface="PingFang SC"/>
                <a:cs typeface="PingFang SC"/>
              </a:rPr>
              <a:t>痛点 3–4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88ACCA6F-168B-4723-8498-22967BB2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02 串行分发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依赖提示词逐条派发审计路径；上下文与任务状态不稳定，审计路径容易遗漏。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27EC5929-E940-455A-BCB0-598B1111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01 规则依赖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过度依赖预设模式库与正则表；已知规则覆盖清晰，但未知漏洞容易漏报。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1FB8173A-D31B-42C2-8EAF-4F09D2F1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03 路径 / 04 验证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entry × sink 只能稳定获取单组件内可达路径，跨组件能力弱；缺少可靠结果验证，正常行为容易被误判。</a:t>
            </a:r>
          </a:p>
        </p:txBody>
      </p:sp>
      <p:sp>
        <p:nvSpPr>
          <p:cNvPr id="13" name="section-rail-3">
            <a:extLst xmlns:a="http://schemas.openxmlformats.org/drawingml/2006/main">
              <a:ext uri="{FF2B5EF4-FFF2-40B4-BE49-F238E27FC236}">
                <a16:creationId xmlns:a16="http://schemas.microsoft.com/office/drawing/2014/main" id="{4E093919-49E4-42B9-8585-2C564AA1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  <a:ln xmlns:a="http://schemas.openxmlformats.org/drawingml/2006/main" w="0">
            <a:solidFill>
              <a:srgbClr val="E85D4A"/>
            </a:solidFill>
            <a:prstDash val="solid"/>
          </a:ln>
        </p:spPr>
      </p:sp>
      <p:sp>
        <p:nvSpPr>
          <p:cNvPr id="14" name="section-tag-3">
            <a:extLst xmlns:a="http://schemas.openxmlformats.org/drawingml/2006/main">
              <a:ext uri="{FF2B5EF4-FFF2-40B4-BE49-F238E27FC236}">
                <a16:creationId xmlns:a16="http://schemas.microsoft.com/office/drawing/2014/main" id="{31023573-0BD8-4F53-8F0D-DD9156C6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E85D4A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v2 基线</a:t>
            </a:r>
          </a:p>
        </p:txBody>
      </p:sp>
    </p:spTree>
    <p:extLst>
      <p:ext uri="{BB962C8B-B14F-4D97-AF65-F5344CB8AC3E}">
        <p14:creationId xmlns:p14="http://schemas.microsoft.com/office/powerpoint/2010/main" val="14772912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1B2F8E55-9D93-4C4B-83EC-F8104FD5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D3A3577B-21C5-4411-8E78-1FF5AFC5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v3 架构：确定性控制面包住 AI 的语义能力</a:t>
            </a:r>
          </a:p>
        </p:txBody>
      </p:sp>
      <p:cxnSp>
        <p:nvCxnSpPr>
          <p:cNvPr id="44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DC60FAAC-649C-48ED-9C3E-F5885DF9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1F212BC8-F02A-4219-8DF5-6D01572B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0FE416AF-F89A-451E-BBFE-CA7D311E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08421C5D-FEC3-495E-B169-F62F07AB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908296A5-B738-4726-85F1-E8ED2206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前置建模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脚本解析多 module.json5 / Manifest；Atlas 先完成全量索引；按组件生成分析单元。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C5A6AE54-A11A-4B8C-AC2E-F32D2C46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26785BD3-0E72-4060-983D-FD9817B2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证据生产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组件语义 Agent 发现真实入口、敏感行为和</a:t>
            </a: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跨组件调用</a:t>
            </a: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；脚本确定性连接组件关系。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366541F4-5AF8-4E38-A77F-156DD0EF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001B197E-38EA-4E2B-924C-E936D689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验证与交付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独立 Validator 回读源码执行六维验证；SQLite 保存状态；脚本持续生成 HTML 并最终导出报告。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C02E1BC0-6AFE-444E-8BAE-F2BA8FE1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AI 语义分析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A3D7043B-54FE-4E17-A664-38FEAFF2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确定性事实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966BA0C2-AA8B-4C50-AA19-8EE82288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2F6FED"/>
                </a:solidFill>
                <a:latin typeface="PingFang SC"/>
                <a:ea typeface="PingFang SC"/>
                <a:cs typeface="PingFang SC"/>
              </a:rPr>
              <a:t>可恢复交付</a:t>
            </a:r>
          </a:p>
        </p:txBody>
      </p:sp>
      <p:sp>
        <p:nvSpPr>
          <p:cNvPr id="16" name="section-rail-4">
            <a:extLst xmlns:a="http://schemas.openxmlformats.org/drawingml/2006/main">
              <a:ext uri="{FF2B5EF4-FFF2-40B4-BE49-F238E27FC236}">
                <a16:creationId xmlns:a16="http://schemas.microsoft.com/office/drawing/2014/main" id="{BDCE4542-8700-4C46-B108-E6FB1067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6D"/>
          </a:solidFill>
          <a:ln xmlns:a="http://schemas.openxmlformats.org/drawingml/2006/main" w="0">
            <a:solidFill>
              <a:srgbClr val="007F6D"/>
            </a:solidFill>
            <a:prstDash val="solid"/>
          </a:ln>
        </p:spPr>
      </p:sp>
      <p:sp>
        <p:nvSpPr>
          <p:cNvPr id="17" name="section-tag-4">
            <a:extLst xmlns:a="http://schemas.openxmlformats.org/drawingml/2006/main">
              <a:ext uri="{FF2B5EF4-FFF2-40B4-BE49-F238E27FC236}">
                <a16:creationId xmlns:a16="http://schemas.microsoft.com/office/drawing/2014/main" id="{0C6D9356-7D9D-4B7B-AE7C-F3063322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07F6D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架构升级</a:t>
            </a:r>
          </a:p>
        </p:txBody>
      </p:sp>
    </p:spTree>
    <p:extLst>
      <p:ext uri="{BB962C8B-B14F-4D97-AF65-F5344CB8AC3E}">
        <p14:creationId xmlns:p14="http://schemas.microsoft.com/office/powerpoint/2010/main" val="167522255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712E0761-7B75-4FF5-90A3-FE0E8C07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1BC384DF-347D-45DB-99B7-DE9789D0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6442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架构升级的实质：从“文件驱动流程”到“状态驱动审计”</a:t>
            </a:r>
          </a:p>
        </p:txBody>
      </p:sp>
      <p:sp>
        <p:nvSpPr>
          <p:cNvPr id="3" name="Rounded-Rectangle-1-4">
            <a:extLst xmlns:a="http://schemas.openxmlformats.org/drawingml/2006/main">
              <a:ext uri="{FF2B5EF4-FFF2-40B4-BE49-F238E27FC236}">
                <a16:creationId xmlns:a16="http://schemas.microsoft.com/office/drawing/2014/main" id="{A1B68BF3-874B-4138-9355-762BED94A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02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1026FEC9-93C0-4D70-A071-666F58CE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v2  |  workflow + skills</a:t>
            </a:r>
          </a:p>
        </p:txBody>
      </p:sp>
      <p:sp>
        <p:nvSpPr>
          <p:cNvPr id="5" name="Content-Placeholder-15-6">
            <a:extLst xmlns:a="http://schemas.openxmlformats.org/drawingml/2006/main">
              <a:ext uri="{FF2B5EF4-FFF2-40B4-BE49-F238E27FC236}">
                <a16:creationId xmlns:a16="http://schemas.microsoft.com/office/drawing/2014/main" id="{0CD6B6BE-46D0-42C1-8D22-EF45BE4AB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运行状态散落在多个 JSON 文件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阶段衔接依赖工作流上下文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重试与汇总更依赖提示词纪律</a:t>
            </a:r>
          </a:p>
        </p:txBody>
      </p:sp>
      <p:sp>
        <p:nvSpPr>
          <p:cNvPr id="6" name="Rounded-Rectangle-7-7">
            <a:extLst xmlns:a="http://schemas.openxmlformats.org/drawingml/2006/main">
              <a:ext uri="{FF2B5EF4-FFF2-40B4-BE49-F238E27FC236}">
                <a16:creationId xmlns:a16="http://schemas.microsoft.com/office/drawing/2014/main" id="{6A240CF2-A6FC-4BC8-866A-F80D4419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3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DF6D50B4-BDDA-454C-9A2F-7F201BCB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v3  |  agents + state machine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A39DD7E0-5BD7-4E84-8B15-9FC4185B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run.db 是唯一可变事实源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任务输入/输出均有 schema 和事务边界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失败隔离、批量调度、报告门控由脚本负责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0D2AD26A-7244-46DE-A079-48D4D7AD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157478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对比结论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v2 的优势是轻量、直观，适合小项目快速跑通；v3 的重点是让长时间、多任务审计具备明确边界、失败恢复和证据一致性。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升级目标不是让 Agent 更多，而是让每个 Agent 只负责可验证的一段工作。</a:t>
            </a:r>
          </a:p>
        </p:txBody>
      </p:sp>
      <p:sp>
        <p:nvSpPr>
          <p:cNvPr id="10" name="section-rail-5">
            <a:extLst xmlns:a="http://schemas.openxmlformats.org/drawingml/2006/main">
              <a:ext uri="{FF2B5EF4-FFF2-40B4-BE49-F238E27FC236}">
                <a16:creationId xmlns:a16="http://schemas.microsoft.com/office/drawing/2014/main" id="{7077E199-A0DA-46EA-A0E5-88F38C3F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6D"/>
          </a:solidFill>
          <a:ln xmlns:a="http://schemas.openxmlformats.org/drawingml/2006/main" w="0">
            <a:solidFill>
              <a:srgbClr val="007F6D"/>
            </a:solidFill>
            <a:prstDash val="solid"/>
          </a:ln>
        </p:spPr>
      </p:sp>
      <p:sp>
        <p:nvSpPr>
          <p:cNvPr id="11" name="section-tag-5">
            <a:extLst xmlns:a="http://schemas.openxmlformats.org/drawingml/2006/main">
              <a:ext uri="{FF2B5EF4-FFF2-40B4-BE49-F238E27FC236}">
                <a16:creationId xmlns:a16="http://schemas.microsoft.com/office/drawing/2014/main" id="{6DC3E557-ABD5-4A5C-B8AF-BEF646A9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07F6D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架构对比</a:t>
            </a:r>
          </a:p>
        </p:txBody>
      </p:sp>
    </p:spTree>
    <p:extLst>
      <p:ext uri="{BB962C8B-B14F-4D97-AF65-F5344CB8AC3E}">
        <p14:creationId xmlns:p14="http://schemas.microsoft.com/office/powerpoint/2010/main" val="51377841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8FEC9A4F-F34C-4830-A47C-B5CE2725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0CB3CCE7-D2A0-44C7-A6F5-08638BD3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6442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路径模式升级：矩阵擅长枚举，开放发现擅长理解真实调用</a:t>
            </a:r>
          </a:p>
        </p:txBody>
      </p:sp>
      <p:sp>
        <p:nvSpPr>
          <p:cNvPr id="3" name="Rounded-Rectangle-1-4">
            <a:extLst xmlns:a="http://schemas.openxmlformats.org/drawingml/2006/main">
              <a:ext uri="{FF2B5EF4-FFF2-40B4-BE49-F238E27FC236}">
                <a16:creationId xmlns:a16="http://schemas.microsoft.com/office/drawing/2014/main" id="{EB9F4A27-5141-4D03-BE01-DF24C08A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02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B93F16B1-ABAA-4F30-8B0B-9B6C4A42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v2  |  entry × sink</a:t>
            </a:r>
          </a:p>
        </p:txBody>
      </p:sp>
      <p:sp>
        <p:nvSpPr>
          <p:cNvPr id="5" name="Content-Placeholder-15-6">
            <a:extLst xmlns:a="http://schemas.openxmlformats.org/drawingml/2006/main">
              <a:ext uri="{FF2B5EF4-FFF2-40B4-BE49-F238E27FC236}">
                <a16:creationId xmlns:a16="http://schemas.microsoft.com/office/drawing/2014/main" id="{7805917F-DFF0-447B-A754-0C9D4008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先枚举候选组合，再验证是否可达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已知规则覆盖清晰，但未知路径容易漏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同一根因可能被多入口/多 sink 重复表达</a:t>
            </a:r>
          </a:p>
        </p:txBody>
      </p:sp>
      <p:sp>
        <p:nvSpPr>
          <p:cNvPr id="6" name="Rounded-Rectangle-7-7">
            <a:extLst xmlns:a="http://schemas.openxmlformats.org/drawingml/2006/main">
              <a:ext uri="{FF2B5EF4-FFF2-40B4-BE49-F238E27FC236}">
                <a16:creationId xmlns:a16="http://schemas.microsoft.com/office/drawing/2014/main" id="{775DF647-7EC2-4CA1-8F92-C8C125DA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3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04F7C69D-F6DA-451F-A71B-C2F847F9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v3  |  entry-first discovery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5F046D99-11C8-40CA-9948-45C245356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从真实外部入口沿调用关系向下探索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敏感行为由代码语义决定，不预设终点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组件内合并分支，</a:t>
            </a: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跨组件仅记录调用关系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E0DCCBB5-6792-4461-AEA1-BB7A52FD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157478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为什么要换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entry × sink 将“入口类型”和“敏感操作类型”预先组合，适合覆盖已知模式；但候选规模天然接近 E × S，共享 handler、别名入口和业务分支容易被重复拆成多条任务。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v3 先回答“这个入口实际会走到哪里”，再判断途中出现的安全行为，不要求危险路径提前存在于矩阵里。</a:t>
            </a:r>
          </a:p>
        </p:txBody>
      </p:sp>
      <p:sp>
        <p:nvSpPr>
          <p:cNvPr id="10" name="section-rail-6">
            <a:extLst xmlns:a="http://schemas.openxmlformats.org/drawingml/2006/main">
              <a:ext uri="{FF2B5EF4-FFF2-40B4-BE49-F238E27FC236}">
                <a16:creationId xmlns:a16="http://schemas.microsoft.com/office/drawing/2014/main" id="{46AB1FD3-A90B-44A5-ABF3-13EDA4AA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  <a:ln xmlns:a="http://schemas.openxmlformats.org/drawingml/2006/main" w="0">
            <a:solidFill>
              <a:srgbClr val="E85D4A"/>
            </a:solidFill>
            <a:prstDash val="solid"/>
          </a:ln>
        </p:spPr>
      </p:sp>
      <p:sp>
        <p:nvSpPr>
          <p:cNvPr id="11" name="section-tag-6">
            <a:extLst xmlns:a="http://schemas.openxmlformats.org/drawingml/2006/main">
              <a:ext uri="{FF2B5EF4-FFF2-40B4-BE49-F238E27FC236}">
                <a16:creationId xmlns:a16="http://schemas.microsoft.com/office/drawing/2014/main" id="{640C488A-2287-4995-878D-BDA8AFFC9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E85D4A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路径模式</a:t>
            </a:r>
          </a:p>
        </p:txBody>
      </p:sp>
    </p:spTree>
    <p:extLst>
      <p:ext uri="{BB962C8B-B14F-4D97-AF65-F5344CB8AC3E}">
        <p14:creationId xmlns:p14="http://schemas.microsoft.com/office/powerpoint/2010/main" val="26571363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07B06C81-E702-4F8A-9C13-CFD56158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07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F745AE43-16AA-4A17-95A2-4EF58183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当前路径发现：一个组件一次读懂，必要时再连接组件</a:t>
            </a:r>
          </a:p>
        </p:txBody>
      </p:sp>
      <p:cxnSp>
        <p:nvCxnSpPr>
          <p:cNvPr id="41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97308ADD-DD70-4249-81FD-AB622356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927B711C-E2DD-4EC3-A5A6-32CED978F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6555088D-7051-4552-80EB-91558A96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ADF0F69A-B9E8-4C7E-874A-C3244D35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STEP 1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EFA970E9-4725-4780-B2F9-19290B79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STEP 2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D787D20F-A7D6-421E-A5B0-E89C8A4F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2F6FED"/>
                </a:solidFill>
                <a:latin typeface="PingFang SC"/>
                <a:ea typeface="PingFang SC"/>
                <a:cs typeface="PingFang SC"/>
              </a:rPr>
              <a:t>STEP 3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5E906B28-CA0F-4DE8-8A82-E216919D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组件内开放探索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分析调用、条件、数据变化和敏感操作；按“操作位置 + 受控属性”合并业务分支。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3437E0B7-0818-4332-A4E8-DBF36A68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确认真实入口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从 JSON5 暴露事实出发，Atlas 定位生命周期、路由、事件订阅等真正接收外部输入的位置。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417F5504-7883-494E-82B0-F038B937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跨组件确定性连接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遇到组件边界只记录目标和参数映射；脚本构图并保留最短外部可达证据链。</a:t>
            </a:r>
          </a:p>
        </p:txBody>
      </p:sp>
      <p:sp>
        <p:nvSpPr>
          <p:cNvPr id="13" name="section-rail-7">
            <a:extLst xmlns:a="http://schemas.openxmlformats.org/drawingml/2006/main">
              <a:ext uri="{FF2B5EF4-FFF2-40B4-BE49-F238E27FC236}">
                <a16:creationId xmlns:a16="http://schemas.microsoft.com/office/drawing/2014/main" id="{F593240D-A271-41DE-B103-C338AF6A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  <a:ln xmlns:a="http://schemas.openxmlformats.org/drawingml/2006/main" w="0">
            <a:solidFill>
              <a:srgbClr val="E85D4A"/>
            </a:solidFill>
            <a:prstDash val="solid"/>
          </a:ln>
        </p:spPr>
      </p:sp>
      <p:sp>
        <p:nvSpPr>
          <p:cNvPr id="14" name="section-tag-7">
            <a:extLst xmlns:a="http://schemas.openxmlformats.org/drawingml/2006/main">
              <a:ext uri="{FF2B5EF4-FFF2-40B4-BE49-F238E27FC236}">
                <a16:creationId xmlns:a16="http://schemas.microsoft.com/office/drawing/2014/main" id="{232BD695-82C1-40BC-AB49-6A51A3A4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E85D4A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路径发现</a:t>
            </a:r>
          </a:p>
        </p:txBody>
      </p:sp>
    </p:spTree>
    <p:extLst>
      <p:ext uri="{BB962C8B-B14F-4D97-AF65-F5344CB8AC3E}">
        <p14:creationId xmlns:p14="http://schemas.microsoft.com/office/powerpoint/2010/main" val="5144963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A0A338F2-C1DB-44F8-A727-0D3FC04B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08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C5FA6115-3369-455F-867C-3D069657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避免路径爆炸：控制分析单元，而不是粗暴截断调用深度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DAB95D7F-8FBC-4D6E-A733-FD099D79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一个组件，一个语义任务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同一 Ability / ExtensionAbility 的分支在一次上下文中理解，公共 handler 不重复读。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04472B3A-B3AD-487B-96E3-D19A4F50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只在安全语义变化时拆分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仅当敏感操作位置、关键受控参数集合，或安全边界 / 影响类型发生变化时拆分。普通条件分支、入口别名和共享 handler 不拆。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7C70901F-8225-488E-8ECD-D46BE1DE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跨组件先停、再连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Agent 到组件边界即停止；</a:t>
            </a: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跨组件调用</a:t>
            </a: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由脚本统一构图，防止递归展开。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D9250395-FECA-451C-A798-22736B5D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按模式缩小起点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全量、能力、组件三种命令共用一条流水线，只改变初始分析范围。</a:t>
            </a:r>
          </a:p>
        </p:txBody>
      </p:sp>
      <p:sp>
        <p:nvSpPr>
          <p:cNvPr id="7" name="section-rail-8">
            <a:extLst xmlns:a="http://schemas.openxmlformats.org/drawingml/2006/main">
              <a:ext uri="{FF2B5EF4-FFF2-40B4-BE49-F238E27FC236}">
                <a16:creationId xmlns:a16="http://schemas.microsoft.com/office/drawing/2014/main" id="{C442CBF3-9FBB-4922-9C46-B20B6FDF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8" name="section-tag-8">
            <a:extLst xmlns:a="http://schemas.openxmlformats.org/drawingml/2006/main">
              <a:ext uri="{FF2B5EF4-FFF2-40B4-BE49-F238E27FC236}">
                <a16:creationId xmlns:a16="http://schemas.microsoft.com/office/drawing/2014/main" id="{81477657-787E-4D37-9520-921070D8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2F6FED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2F6FED"/>
                </a:solidFill>
                <a:latin typeface="PingFang SC"/>
                <a:ea typeface="PingFang SC"/>
                <a:cs typeface="PingFang SC"/>
              </a:rPr>
              <a:t>规模控制</a:t>
            </a:r>
          </a:p>
        </p:txBody>
      </p:sp>
    </p:spTree>
    <p:extLst>
      <p:ext uri="{BB962C8B-B14F-4D97-AF65-F5344CB8AC3E}">
        <p14:creationId xmlns:p14="http://schemas.microsoft.com/office/powerpoint/2010/main" val="184490822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2143A94B-BD42-4AD4-A949-C1D57B08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09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0D47E69F-D94F-429D-AD70-F3DFE248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6442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跨组件分析：v2 能继续上下文，但没有通用的数据流连接机制</a:t>
            </a:r>
          </a:p>
        </p:txBody>
      </p:sp>
      <p:sp>
        <p:nvSpPr>
          <p:cNvPr id="3" name="Rounded-Rectangle-1-4">
            <a:extLst xmlns:a="http://schemas.openxmlformats.org/drawingml/2006/main">
              <a:ext uri="{FF2B5EF4-FFF2-40B4-BE49-F238E27FC236}">
                <a16:creationId xmlns:a16="http://schemas.microsoft.com/office/drawing/2014/main" id="{87772FEC-BA21-494F-AF33-403CF0CC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02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9B0B2ACA-5D3C-4B31-9849-62415324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v2  |  上下文延续</a:t>
            </a:r>
          </a:p>
        </p:txBody>
      </p:sp>
      <p:sp>
        <p:nvSpPr>
          <p:cNvPr id="5" name="Content-Placeholder-15-6">
            <a:extLst xmlns:a="http://schemas.openxmlformats.org/drawingml/2006/main">
              <a:ext uri="{FF2B5EF4-FFF2-40B4-BE49-F238E27FC236}">
                <a16:creationId xmlns:a16="http://schemas.microsoft.com/office/drawing/2014/main" id="{EC8AC8F9-6978-4BF5-87FF-B4BB4996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跨边界关系主要存在于工作流上下文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缺少参数映射和控制性变化模型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下游组件结果难与上游入口确定性合并</a:t>
            </a:r>
          </a:p>
        </p:txBody>
      </p:sp>
      <p:sp>
        <p:nvSpPr>
          <p:cNvPr id="6" name="Rounded-Rectangle-7-7">
            <a:extLst xmlns:a="http://schemas.openxmlformats.org/drawingml/2006/main">
              <a:ext uri="{FF2B5EF4-FFF2-40B4-BE49-F238E27FC236}">
                <a16:creationId xmlns:a16="http://schemas.microsoft.com/office/drawing/2014/main" id="{07A2A21E-3917-4D1A-A72D-BB24E170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3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D317CFA1-44B8-455D-8025-03CFD85A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v3  |  </a:t>
            </a:r>
            <a:r>
              <a:rPr sz="2100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调用记录</a:t>
            </a:r>
            <a:r>
              <a:rPr sz="2100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 + 图连接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F6F0616B-0899-4BF1-840D-90B9734A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每个组件只分析一次，</a:t>
            </a: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边界处记录跨组件调用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Python 按参数映射连接组件局部结果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连接后的完整证据链再进入六维验证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2A24614C-B17E-467E-9C13-8878CE14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157478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关键区别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v2 可以在少数已知场景中把 Ability → WebView 等关系作为后续审计上下文，但 attack_map 仍以入口与敏感操作候选为中心，没有统一表达“组件 A 的哪个参数，以什么条件，传到组件 B 的哪个输入”。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因此它不能把多个组件独立分析后的证据，稳定复用为一条跨组件攻击路径。</a:t>
            </a:r>
          </a:p>
        </p:txBody>
      </p:sp>
      <p:sp>
        <p:nvSpPr>
          <p:cNvPr id="10" name="section-rail-9">
            <a:extLst xmlns:a="http://schemas.openxmlformats.org/drawingml/2006/main">
              <a:ext uri="{FF2B5EF4-FFF2-40B4-BE49-F238E27FC236}">
                <a16:creationId xmlns:a16="http://schemas.microsoft.com/office/drawing/2014/main" id="{367A7AE8-F495-4AD2-9081-1224BC23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  <a:ln xmlns:a="http://schemas.openxmlformats.org/drawingml/2006/main" w="0">
            <a:solidFill>
              <a:srgbClr val="E85D4A"/>
            </a:solidFill>
            <a:prstDash val="solid"/>
          </a:ln>
        </p:spPr>
      </p:sp>
      <p:sp>
        <p:nvSpPr>
          <p:cNvPr id="11" name="section-tag-9">
            <a:extLst xmlns:a="http://schemas.openxmlformats.org/drawingml/2006/main">
              <a:ext uri="{FF2B5EF4-FFF2-40B4-BE49-F238E27FC236}">
                <a16:creationId xmlns:a16="http://schemas.microsoft.com/office/drawing/2014/main" id="{89B7956C-8C2C-49C9-BA27-210306EE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E85D4A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跨组件分析</a:t>
            </a:r>
          </a:p>
        </p:txBody>
      </p:sp>
    </p:spTree>
    <p:extLst>
      <p:ext uri="{BB962C8B-B14F-4D97-AF65-F5344CB8AC3E}">
        <p14:creationId xmlns:p14="http://schemas.microsoft.com/office/powerpoint/2010/main" val="6784354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6625F4DC-CC36-4EB3-97DC-4353C71F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E8EDFC5-1E8F-45A1-A100-C86388D9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6442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跨组件关联的两段职责：Agent 记录边界，Python 连接证据</a:t>
            </a:r>
          </a:p>
        </p:txBody>
      </p:sp>
      <p:sp>
        <p:nvSpPr>
          <p:cNvPr id="3" name="Rounded-Rectangle-1-4">
            <a:extLst xmlns:a="http://schemas.openxmlformats.org/drawingml/2006/main">
              <a:ext uri="{FF2B5EF4-FFF2-40B4-BE49-F238E27FC236}">
                <a16:creationId xmlns:a16="http://schemas.microsoft.com/office/drawing/2014/main" id="{728AFBB6-8A56-458C-A404-0C7E6A87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02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356E6666-9456-4131-B82F-EC9B441F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① Agent  |  </a:t>
            </a:r>
            <a:r>
              <a:rPr sz="2025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记录跨组件调用</a:t>
            </a:r>
          </a:p>
        </p:txBody>
      </p:sp>
      <p:sp>
        <p:nvSpPr>
          <p:cNvPr id="5" name="Content-Placeholder-15-6">
            <a:extLst xmlns:a="http://schemas.openxmlformats.org/drawingml/2006/main">
              <a:ext uri="{FF2B5EF4-FFF2-40B4-BE49-F238E27FC236}">
                <a16:creationId xmlns:a16="http://schemas.microsoft.com/office/drawing/2014/main" id="{A03E8D80-C3D8-4294-A01B-C4598DB2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到组件边界停止，记录目标、位置、</a:t>
            </a:r>
            <a:r>
              <a:rPr sz="1275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条件和安全检查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保存 </a:t>
            </a:r>
            <a:r>
              <a:rPr sz="1275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上游参数 → 下游参数及转换方式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</a:t>
            </a:r>
            <a:r>
              <a:rPr sz="1275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控制性保留或受限时继续；常量或无法确认时停止</a:t>
            </a:r>
          </a:p>
        </p:txBody>
      </p:sp>
      <p:sp>
        <p:nvSpPr>
          <p:cNvPr id="6" name="Rounded-Rectangle-7-7">
            <a:extLst xmlns:a="http://schemas.openxmlformats.org/drawingml/2006/main">
              <a:ext uri="{FF2B5EF4-FFF2-40B4-BE49-F238E27FC236}">
                <a16:creationId xmlns:a16="http://schemas.microsoft.com/office/drawing/2014/main" id="{48C3DADC-B43B-4B3F-AF20-91137E60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3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878FDC3F-33B8-4825-A6C3-DC2FF39DE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2F6FED"/>
                </a:solidFill>
                <a:latin typeface="PingFang SC"/>
                <a:ea typeface="PingFang SC"/>
                <a:cs typeface="PingFang SC"/>
              </a:rPr>
              <a:t>② Python  |  确定性关联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F79D50BF-AAAF-4DEF-9B10-99BBEF7C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</a:t>
            </a:r>
            <a:r>
              <a:rPr sz="1275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仅从已确认的外部入口出发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</a:t>
            </a:r>
            <a:r>
              <a:rPr sz="1275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按当前参数匹配下一次组件调用及下游敏感操作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• </a:t>
            </a:r>
            <a:r>
              <a:rPr sz="1275" b="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合成 外部入口 → 跨组件调用 → 敏感操作，再交给验证智能体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7068DF33-B479-4D7E-8B15-C9FF3BDD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157478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同一个过程，两种职责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Agent 负责理解当前组件内的代码语义，并在边界处留下足够的结构化事实；Python 不重新读代码，只消费这些事实，判断外部输入能否沿同一受控属性到达下游敏感操作。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这样既保留 AI 的理解能力，又避免一个任务递归展开整个组件图。</a:t>
            </a:r>
          </a:p>
        </p:txBody>
      </p:sp>
      <p:sp>
        <p:nvSpPr>
          <p:cNvPr id="10" name="section-rail-10">
            <a:extLst xmlns:a="http://schemas.openxmlformats.org/drawingml/2006/main">
              <a:ext uri="{FF2B5EF4-FFF2-40B4-BE49-F238E27FC236}">
                <a16:creationId xmlns:a16="http://schemas.microsoft.com/office/drawing/2014/main" id="{1D250E7A-7989-4EBB-BB44-29F71799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11" name="section-tag-10">
            <a:extLst xmlns:a="http://schemas.openxmlformats.org/drawingml/2006/main">
              <a:ext uri="{FF2B5EF4-FFF2-40B4-BE49-F238E27FC236}">
                <a16:creationId xmlns:a16="http://schemas.microsoft.com/office/drawing/2014/main" id="{1046CE1D-69A8-42E1-A151-C7C05F620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2F6FED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2F6FED"/>
                </a:solidFill>
                <a:latin typeface="PingFang SC"/>
                <a:ea typeface="PingFang SC"/>
                <a:cs typeface="PingFang SC"/>
              </a:rPr>
              <a:t>跨组件关联</a:t>
            </a:r>
          </a:p>
        </p:txBody>
      </p:sp>
    </p:spTree>
    <p:extLst>
      <p:ext uri="{BB962C8B-B14F-4D97-AF65-F5344CB8AC3E}">
        <p14:creationId xmlns:p14="http://schemas.microsoft.com/office/powerpoint/2010/main" val="125975712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3796BB40-8C8C-481F-B9BE-F8B4F844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16C3D4F2-66EE-491A-B316-D98A3DB5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示例：A → B → C 如何合成一条跨组件证据链</a:t>
            </a:r>
          </a:p>
        </p:txBody>
      </p:sp>
      <p:cxnSp>
        <p:nvCxnSpPr>
          <p:cNvPr id="43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BB712314-CD45-4AEA-8BF4-E0A40D608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5A6F0570-24FB-4C3B-9BEA-39B81708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2154B229-7D25-4A11-B429-19FF0D6ED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A5B11062-7936-466F-8C55-AA597D185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COMPONENT A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53533B21-BDFF-4E8C-8E27-5C100FFB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COMPONENT B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1E5568D8-6C9F-4E64-AB49-CE36AEFA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2F6FED"/>
                </a:solidFill>
                <a:latin typeface="PingFang SC"/>
                <a:ea typeface="PingFang SC"/>
                <a:cs typeface="PingFang SC"/>
              </a:rPr>
              <a:t>COMPONENT C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22E91F9F-A7BC-47A0-87E1-378B635B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中间组件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本地路由读取 uri；</a:t>
            </a: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调用 2 将 uri 转为 targetUrl，控制性受限保留</a:t>
            </a: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，并记录</a:t>
            </a: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白名单安全检查</a:t>
            </a: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。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21209116-6399-4B0A-883C-C7E6C84C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外部入口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DeepLink 输入 want.parameters.url；</a:t>
            </a: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调用 1 将 url 转为 uri，控制性保持</a:t>
            </a: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。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584D65BF-B39E-44BB-9D54-D6A6B919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敏感操作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本地敏感操作证明</a:t>
            </a: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 targetUrl 到达 webview.loadUrl；</a:t>
            </a: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脚本合成 外部入口 → 调用 1 → 调用 2 → 敏感操作</a:t>
            </a: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。</a:t>
            </a:r>
          </a:p>
        </p:txBody>
      </p:sp>
      <p:sp>
        <p:nvSpPr>
          <p:cNvPr id="13" name="圆角矩形 12">
            <a:extLst xmlns:a="http://schemas.openxmlformats.org/drawingml/2006/main">
              <a:ext uri="{FF2B5EF4-FFF2-40B4-BE49-F238E27FC236}">
                <a16:creationId xmlns:a16="http://schemas.microsoft.com/office/drawing/2014/main" id="{8EF4472E-0D2A-4B18-A691-75D8641E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76900"/>
            <a:ext cx="109347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2F4F5"/>
          </a:solidFill>
          <a:ln xmlns:a="http://schemas.openxmlformats.org/drawingml/2006/main" w="9525">
            <a:solidFill>
              <a:srgbClr val="E0E4E7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818DACA7-D3C0-4952-99AB-551734FE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81675"/>
            <a:ext cx="10553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71B22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白名单只约束直接调用组件，不一定约束原始调用者；六维验证会结合身份与权限传播，判断是有效保护还是代理借权。</a:t>
            </a:r>
          </a:p>
        </p:txBody>
      </p:sp>
      <p:sp>
        <p:nvSpPr>
          <p:cNvPr id="15" name="section-rail-11">
            <a:extLst xmlns:a="http://schemas.openxmlformats.org/drawingml/2006/main">
              <a:ext uri="{FF2B5EF4-FFF2-40B4-BE49-F238E27FC236}">
                <a16:creationId xmlns:a16="http://schemas.microsoft.com/office/drawing/2014/main" id="{AC068E13-39BC-498E-B77A-B5F7F84D1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16" name="section-tag-11">
            <a:extLst xmlns:a="http://schemas.openxmlformats.org/drawingml/2006/main">
              <a:ext uri="{FF2B5EF4-FFF2-40B4-BE49-F238E27FC236}">
                <a16:creationId xmlns:a16="http://schemas.microsoft.com/office/drawing/2014/main" id="{24B7D79C-9B8C-42D3-9FAF-BA5CB12FF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2F6FED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2F6FED"/>
                </a:solidFill>
                <a:latin typeface="PingFang SC"/>
                <a:ea typeface="PingFang SC"/>
                <a:cs typeface="PingFang SC"/>
              </a:rPr>
              <a:t>连接示例</a:t>
            </a:r>
          </a:p>
        </p:txBody>
      </p:sp>
    </p:spTree>
    <p:extLst>
      <p:ext uri="{BB962C8B-B14F-4D97-AF65-F5344CB8AC3E}">
        <p14:creationId xmlns:p14="http://schemas.microsoft.com/office/powerpoint/2010/main" val="154057680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C2B19A43-339A-4954-85F9-91B3501D3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0617BCE0-87E4-42FD-AEE2-000FEF46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六维可靠性验证：把“看起来危险”拆成可核验的事实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BAF5BCD8-FDAA-4F5A-9CBA-71A31E3C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④ 防护可绕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权限、白名单、身份校验是否缺失或可绕过。</a:t>
            </a:r>
          </a:p>
        </p:txBody>
      </p:sp>
      <p:sp>
        <p:nvSpPr>
          <p:cNvPr id="4" name="Text-Placeholder-16-5">
            <a:extLst xmlns:a="http://schemas.openxmlformats.org/drawingml/2006/main">
              <a:ext uri="{FF2B5EF4-FFF2-40B4-BE49-F238E27FC236}">
                <a16:creationId xmlns:a16="http://schemas.microsoft.com/office/drawing/2014/main" id="{7AD0FD56-105E-4C84-A253-8A9893DA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⑤ 边界破坏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是否跨越了预期安全边界。</a:t>
            </a:r>
          </a:p>
        </p:txBody>
      </p:sp>
      <p:sp>
        <p:nvSpPr>
          <p:cNvPr id="5" name="Content-Placeholder-17-6">
            <a:extLst xmlns:a="http://schemas.openxmlformats.org/drawingml/2006/main">
              <a:ext uri="{FF2B5EF4-FFF2-40B4-BE49-F238E27FC236}">
                <a16:creationId xmlns:a16="http://schemas.microsoft.com/office/drawing/2014/main" id="{DDE45305-391B-466A-980D-83B13E48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⑥ 影响成立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是否形成具体、可解释的安全后果。</a:t>
            </a:r>
          </a:p>
        </p:txBody>
      </p:sp>
      <p:sp>
        <p:nvSpPr>
          <p:cNvPr id="6" name="Text-Placeholder-18-7">
            <a:extLst xmlns:a="http://schemas.openxmlformats.org/drawingml/2006/main">
              <a:ext uri="{FF2B5EF4-FFF2-40B4-BE49-F238E27FC236}">
                <a16:creationId xmlns:a16="http://schemas.microsoft.com/office/drawing/2014/main" id="{67718D85-4695-4A08-B213-3F5F72CC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分类输出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全维成立才确认漏洞；否则进入保护、业务、残余或证据不足。</a:t>
            </a:r>
          </a:p>
        </p:txBody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286473E9-7582-4D48-BEB0-A8EABC50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业务基线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先区分正常业务能力、受保护暴露与真正越权。</a:t>
            </a:r>
          </a:p>
        </p:txBody>
      </p:sp>
      <p:sp>
        <p:nvSpPr>
          <p:cNvPr id="8" name="Text-Placeholder-16-9">
            <a:extLst xmlns:a="http://schemas.openxmlformats.org/drawingml/2006/main">
              <a:ext uri="{FF2B5EF4-FFF2-40B4-BE49-F238E27FC236}">
                <a16:creationId xmlns:a16="http://schemas.microsoft.com/office/drawing/2014/main" id="{F361800C-DCC6-47EC-871A-AB577117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① 外部可达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攻击者是否能实际触发该入口。</a:t>
            </a:r>
          </a:p>
        </p:txBody>
      </p:sp>
      <p:sp>
        <p:nvSpPr>
          <p:cNvPr id="9" name="Content-Placeholder-17-10">
            <a:extLst xmlns:a="http://schemas.openxmlformats.org/drawingml/2006/main">
              <a:ext uri="{FF2B5EF4-FFF2-40B4-BE49-F238E27FC236}">
                <a16:creationId xmlns:a16="http://schemas.microsoft.com/office/drawing/2014/main" id="{29832F01-BA82-41F1-A44D-3D4622AC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② 参数可控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关键安全参数是否受攻击者控制。</a:t>
            </a:r>
          </a:p>
        </p:txBody>
      </p:sp>
      <p:sp>
        <p:nvSpPr>
          <p:cNvPr id="10" name="Text-Placeholder-18-11">
            <a:extLst xmlns:a="http://schemas.openxmlformats.org/drawingml/2006/main">
              <a:ext uri="{FF2B5EF4-FFF2-40B4-BE49-F238E27FC236}">
                <a16:creationId xmlns:a16="http://schemas.microsoft.com/office/drawing/2014/main" id="{B8EAF192-1C20-4D76-9AB3-D3E352B1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③ 路径闭合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证据是否真正到达敏感操作。</a:t>
            </a:r>
          </a:p>
        </p:txBody>
      </p:sp>
      <p:sp>
        <p:nvSpPr>
          <p:cNvPr id="11" name="section-rail-12">
            <a:extLst xmlns:a="http://schemas.openxmlformats.org/drawingml/2006/main">
              <a:ext uri="{FF2B5EF4-FFF2-40B4-BE49-F238E27FC236}">
                <a16:creationId xmlns:a16="http://schemas.microsoft.com/office/drawing/2014/main" id="{E49F8230-A1B0-4A2F-A653-4C3F49D1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6D"/>
          </a:solidFill>
          <a:ln xmlns:a="http://schemas.openxmlformats.org/drawingml/2006/main" w="0">
            <a:solidFill>
              <a:srgbClr val="007F6D"/>
            </a:solidFill>
            <a:prstDash val="solid"/>
          </a:ln>
        </p:spPr>
      </p:sp>
      <p:sp>
        <p:nvSpPr>
          <p:cNvPr id="12" name="section-tag-12">
            <a:extLst xmlns:a="http://schemas.openxmlformats.org/drawingml/2006/main">
              <a:ext uri="{FF2B5EF4-FFF2-40B4-BE49-F238E27FC236}">
                <a16:creationId xmlns:a16="http://schemas.microsoft.com/office/drawing/2014/main" id="{FE39FD01-AD70-401E-B376-A825730B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07F6D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漏洞验证</a:t>
            </a:r>
          </a:p>
        </p:txBody>
      </p:sp>
    </p:spTree>
    <p:extLst>
      <p:ext uri="{BB962C8B-B14F-4D97-AF65-F5344CB8AC3E}">
        <p14:creationId xmlns:p14="http://schemas.microsoft.com/office/powerpoint/2010/main" val="103219849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CB8C4393-0F19-4281-B7D7-3616B211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13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1247CA9C-44CB-437A-A559-A79C06AA9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验证不是“六项打勾”游戏：结论分层，漏洞按根因归并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CB64D379-4BD4-4C33-9569-888F0D99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确认漏洞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六个维度均有充分证据；报告给出入口、数据流、防护缺口和具体影响。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151061AE-0CB9-471C-A3A6-21D92BC9A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保护 / 正常业务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外部可达或存在敏感函数并不自动等于漏洞；有效白名单、权限和业务边界会改变结论。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255426BA-BB8D-4117-9597-F1D7FF073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残余风险 / 证据不足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保留值得人工关注但尚不能确认的问题，避免把不确定性伪装成高危漏洞。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272CBC83-B8F9-4F06-B309-033B4D5F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根因级 Finding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用敏感操作位置、关键受控参数和被破坏边界标识根因；入口别名和分支成为证据路径。</a:t>
            </a:r>
          </a:p>
        </p:txBody>
      </p:sp>
      <p:sp>
        <p:nvSpPr>
          <p:cNvPr id="7" name="section-rail-13">
            <a:extLst xmlns:a="http://schemas.openxmlformats.org/drawingml/2006/main">
              <a:ext uri="{FF2B5EF4-FFF2-40B4-BE49-F238E27FC236}">
                <a16:creationId xmlns:a16="http://schemas.microsoft.com/office/drawing/2014/main" id="{D154FB8F-ECE2-4C3A-BAA2-224ED108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6D"/>
          </a:solidFill>
          <a:ln xmlns:a="http://schemas.openxmlformats.org/drawingml/2006/main" w="0">
            <a:solidFill>
              <a:srgbClr val="007F6D"/>
            </a:solidFill>
            <a:prstDash val="solid"/>
          </a:ln>
        </p:spPr>
      </p:sp>
      <p:sp>
        <p:nvSpPr>
          <p:cNvPr id="8" name="section-tag-13">
            <a:extLst xmlns:a="http://schemas.openxmlformats.org/drawingml/2006/main">
              <a:ext uri="{FF2B5EF4-FFF2-40B4-BE49-F238E27FC236}">
                <a16:creationId xmlns:a16="http://schemas.microsoft.com/office/drawing/2014/main" id="{85B48861-8B2E-46DE-ADAD-4B7F5E55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07F6D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误报治理</a:t>
            </a:r>
          </a:p>
        </p:txBody>
      </p:sp>
    </p:spTree>
    <p:extLst>
      <p:ext uri="{BB962C8B-B14F-4D97-AF65-F5344CB8AC3E}">
        <p14:creationId xmlns:p14="http://schemas.microsoft.com/office/powerpoint/2010/main" val="86501213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C2B19A43-339A-4954-85F9-91B3501D3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0617BCE0-87E4-42FD-AEE2-000FEF46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/audit 五种模式：范围可控，增量结果直接复用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BAF5BCD8-FDAA-4F5A-9CBA-71A31E3C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失败续跑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--resume &lt;run-dir&gt;
复用已完成结果，只重试失败任务。</a:t>
            </a:r>
          </a:p>
        </p:txBody>
      </p:sp>
      <p:sp>
        <p:nvSpPr>
          <p:cNvPr id="4" name="Text-Placeholder-16-5">
            <a:extLst xmlns:a="http://schemas.openxmlformats.org/drawingml/2006/main">
              <a:ext uri="{FF2B5EF4-FFF2-40B4-BE49-F238E27FC236}">
                <a16:creationId xmlns:a16="http://schemas.microsoft.com/office/drawing/2014/main" id="{7AD0FD56-105E-4C84-A253-8A9893DA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差异识别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Git 汇总累计提交与工作区；非 Git 比较文件快照。</a:t>
            </a:r>
          </a:p>
        </p:txBody>
      </p:sp>
      <p:sp>
        <p:nvSpPr>
          <p:cNvPr id="5" name="Content-Placeholder-17-6">
            <a:extLst xmlns:a="http://schemas.openxmlformats.org/drawingml/2006/main">
              <a:ext uri="{FF2B5EF4-FFF2-40B4-BE49-F238E27FC236}">
                <a16:creationId xmlns:a16="http://schemas.microsoft.com/office/drawing/2014/main" id="{DDE45305-391B-466A-980D-83B13E48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双层复用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未变的组件语义和六维验证结果直接复用。</a:t>
            </a:r>
          </a:p>
        </p:txBody>
      </p:sp>
      <p:sp>
        <p:nvSpPr>
          <p:cNvPr id="6" name="Text-Placeholder-18-7">
            <a:extLst xmlns:a="http://schemas.openxmlformats.org/drawingml/2006/main">
              <a:ext uri="{FF2B5EF4-FFF2-40B4-BE49-F238E27FC236}">
                <a16:creationId xmlns:a16="http://schemas.microsoft.com/office/drawing/2014/main" id="{67718D85-4695-4A08-B213-3F5F72CC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完整重算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按当前状态重建跨组件关系，并输出差异报告。</a:t>
            </a:r>
          </a:p>
        </p:txBody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286473E9-7582-4D48-BEB0-A8EABC50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全量审计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&lt;repo&gt;
扫描全部组件，建立审计基线。</a:t>
            </a:r>
          </a:p>
        </p:txBody>
      </p:sp>
      <p:sp>
        <p:nvSpPr>
          <p:cNvPr id="8" name="Text-Placeholder-16-9">
            <a:extLst xmlns:a="http://schemas.openxmlformats.org/drawingml/2006/main">
              <a:ext uri="{FF2B5EF4-FFF2-40B4-BE49-F238E27FC236}">
                <a16:creationId xmlns:a16="http://schemas.microsoft.com/office/drawing/2014/main" id="{F361800C-DCC6-47EC-871A-AB577117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能力定点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--capability CAP-ID
只验证指定安全能力。</a:t>
            </a:r>
          </a:p>
        </p:txBody>
      </p:sp>
      <p:sp>
        <p:nvSpPr>
          <p:cNvPr id="9" name="Content-Placeholder-17-10">
            <a:extLst xmlns:a="http://schemas.openxmlformats.org/drawingml/2006/main">
              <a:ext uri="{FF2B5EF4-FFF2-40B4-BE49-F238E27FC236}">
                <a16:creationId xmlns:a16="http://schemas.microsoft.com/office/drawing/2014/main" id="{29832F01-BA82-41F1-A44D-3D4622AC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组件定点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--component Ability
只分析指定组件。</a:t>
            </a:r>
          </a:p>
        </p:txBody>
      </p:sp>
      <p:sp>
        <p:nvSpPr>
          <p:cNvPr id="10" name="Text-Placeholder-18-11">
            <a:extLst xmlns:a="http://schemas.openxmlformats.org/drawingml/2006/main">
              <a:ext uri="{FF2B5EF4-FFF2-40B4-BE49-F238E27FC236}">
                <a16:creationId xmlns:a16="http://schemas.microsoft.com/office/drawing/2014/main" id="{B8EAF192-1C20-4D76-9AB3-D3E352B1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65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增量审计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0"/>
              </a:spcAft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--incremental
只重审受变化影响的组件。</a:t>
            </a:r>
          </a:p>
        </p:txBody>
      </p:sp>
      <p:sp>
        <p:nvSpPr>
          <p:cNvPr id="11" name="section-rail-12">
            <a:extLst xmlns:a="http://schemas.openxmlformats.org/drawingml/2006/main">
              <a:ext uri="{FF2B5EF4-FFF2-40B4-BE49-F238E27FC236}">
                <a16:creationId xmlns:a16="http://schemas.microsoft.com/office/drawing/2014/main" id="{E49F8230-A1B0-4A2F-A653-4C3F49D1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6D"/>
          </a:solidFill>
          <a:ln xmlns:a="http://schemas.openxmlformats.org/drawingml/2006/main" w="0">
            <a:solidFill>
              <a:srgbClr val="007F6D"/>
            </a:solidFill>
            <a:prstDash val="solid"/>
          </a:ln>
        </p:spPr>
      </p:sp>
      <p:sp>
        <p:nvSpPr>
          <p:cNvPr id="12" name="section-tag-12">
            <a:extLst xmlns:a="http://schemas.openxmlformats.org/drawingml/2006/main">
              <a:ext uri="{FF2B5EF4-FFF2-40B4-BE49-F238E27FC236}">
                <a16:creationId xmlns:a16="http://schemas.microsoft.com/office/drawing/2014/main" id="{FE39FD01-AD70-401E-B376-A825730B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07F6D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命令入口</a:t>
            </a:r>
          </a:p>
        </p:txBody>
      </p:sp>
    </p:spTree>
    <p:extLst>
      <p:ext uri="{BB962C8B-B14F-4D97-AF65-F5344CB8AC3E}">
        <p14:creationId xmlns:p14="http://schemas.microsoft.com/office/powerpoint/2010/main" val="103219849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EBAF3CF4-A292-4563-B5CA-43FE6A60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2F1CEAF3-92AD-4961-A0E9-C38E5A8E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HTML 报表：审计过程中持续生成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03BB0A17-7AAE-4683-9DD6-D4A2E7E8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13298D17-58D4-4C63-89D0-3ECDD7A2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9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从“最终文件”变成“运行中窗口”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• prepare 后立即创建 report.html
• 每次任务领取与结果归并后原子更新
• 用户手动刷新，避免自动跳回主视图
• 概览、攻击路径、项目结构、覆盖与缺口四个中文视图
• finalize 时再固化 Markdown 与完整 JSON 导出</a:t>
            </a:r>
          </a:p>
        </p:txBody>
      </p:sp>
      <p:sp>
        <p:nvSpPr>
          <p:cNvPr id="6" name="section-rail-15">
            <a:extLst xmlns:a="http://schemas.openxmlformats.org/drawingml/2006/main">
              <a:ext uri="{FF2B5EF4-FFF2-40B4-BE49-F238E27FC236}">
                <a16:creationId xmlns:a16="http://schemas.microsoft.com/office/drawing/2014/main" id="{2C158074-1C21-4198-8078-C54C80E0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7" name="section-tag-15">
            <a:extLst xmlns:a="http://schemas.openxmlformats.org/drawingml/2006/main">
              <a:ext uri="{FF2B5EF4-FFF2-40B4-BE49-F238E27FC236}">
                <a16:creationId xmlns:a16="http://schemas.microsoft.com/office/drawing/2014/main" id="{65A8AA35-CE80-49F0-9F73-A4F942E1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2F6FED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2F6FED"/>
                </a:solidFill>
                <a:latin typeface="PingFang SC"/>
                <a:ea typeface="PingFang SC"/>
                <a:cs typeface="PingFang SC"/>
              </a:rPr>
              <a:t>可视化报告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9A9B1EE2-3595-4617-A9BB-0E1A0897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781050"/>
            <a:ext cx="5067300" cy="4781550"/>
          </a:xfrm>
          <a:prstGeom xmlns:a="http://schemas.openxmlformats.org/drawingml/2006/main" prst="roundRect">
            <a:avLst>
              <a:gd name="adj" fmla="val 2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A"/>
            </a:solidFill>
            <a:prstDash val="solid"/>
          </a:ln>
        </p:spPr>
      </p:sp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EC962399-737C-4F64-82EE-9EBFC548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781050"/>
            <a:ext cx="50673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1B22"/>
          </a:solidFill>
          <a:ln xmlns:a="http://schemas.openxmlformats.org/drawingml/2006/main" w="9525">
            <a:solidFill>
              <a:srgbClr val="171B22"/>
            </a:solidFill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256B54A-FDA6-4BE8-A25E-B6E15655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8763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HarmonyAppAnalyzerDemo  /  审计报告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9E10C49-5B04-4B6F-BCC9-2B36B750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885825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78E0C7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78E0C7"/>
                </a:solidFill>
                <a:latin typeface="PingFang SC"/>
                <a:ea typeface="PingFang SC"/>
                <a:cs typeface="PingFang SC"/>
              </a:rPr>
              <a:t>运行中</a:t>
            </a:r>
          </a:p>
        </p:txBody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3A0808C2-6BC6-4B93-9F9D-A49617F3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162050"/>
            <a:ext cx="1123950" cy="44005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E0E4E7"/>
            </a:solidFill>
            <a:prstDash val="solid"/>
          </a:ln>
        </p:spPr>
      </p:sp>
      <p:sp>
        <p:nvSpPr>
          <p:cNvPr id="13" name="圆角矩形 12">
            <a:extLst xmlns:a="http://schemas.openxmlformats.org/drawingml/2006/main">
              <a:ext uri="{FF2B5EF4-FFF2-40B4-BE49-F238E27FC236}">
                <a16:creationId xmlns:a16="http://schemas.microsoft.com/office/drawing/2014/main" id="{879C0BE9-0165-4A2F-8AC3-DFFC1073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81125"/>
            <a:ext cx="895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DCEFEA"/>
          </a:solidFill>
          <a:ln xmlns:a="http://schemas.openxmlformats.org/drawingml/2006/main" w="9525">
            <a:solidFill>
              <a:srgbClr val="DCEFEA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B9A5AD96-4830-4E8B-96CA-B9293524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457325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007F6D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概览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E922362-A125-4CB4-8C26-4FBC27DB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52625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D6673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攻击路径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1F38539-5E05-42D6-93CE-A01395B7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47925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D6673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项目结构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E92BBD47-2BD6-493C-95BF-50157E8C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943225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D6673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覆盖与缺口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B7AB9EF0-6923-43D8-BC5A-4C26972F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3811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项目概览</a:t>
            </a: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F250D41E-108B-4DCB-BE50-A68D9A7A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09750"/>
            <a:ext cx="10287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E2E5E8"/>
            </a:solidFill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707290E0-6F31-4864-92BF-465C642D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2405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7F6D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73718090-896F-4990-ABA0-E6B4ADD2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764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5D6673"/>
                </a:solidFill>
                <a:latin typeface="PingFang SC"/>
                <a:ea typeface="PingFang SC"/>
                <a:cs typeface="PingFang SC"/>
              </a:defRPr>
            </a:pPr>
            <a:r>
              <a:rPr sz="90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外部组件</a:t>
            </a:r>
          </a:p>
        </p:txBody>
      </p:sp>
      <p:sp>
        <p:nvSpPr>
          <p:cNvPr id="22" name="圆角矩形 21">
            <a:extLst xmlns:a="http://schemas.openxmlformats.org/drawingml/2006/main">
              <a:ext uri="{FF2B5EF4-FFF2-40B4-BE49-F238E27FC236}">
                <a16:creationId xmlns:a16="http://schemas.microsoft.com/office/drawing/2014/main" id="{796D5B0B-BCE7-4313-A5F2-99EC338A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09750"/>
            <a:ext cx="10287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E2E5E8"/>
            </a:solidFill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2C437F5-F2FE-43C8-9427-9CB1808D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92405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2F6FED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2F6FED"/>
                </a:solidFill>
                <a:latin typeface="PingFang SC"/>
                <a:ea typeface="PingFang SC"/>
                <a:cs typeface="PingFang SC"/>
              </a:rPr>
              <a:t>8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1C0D2F8-7D1C-47A4-8153-4FE03ECF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764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5D6673"/>
                </a:solidFill>
                <a:latin typeface="PingFang SC"/>
                <a:ea typeface="PingFang SC"/>
                <a:cs typeface="PingFang SC"/>
              </a:defRPr>
            </a:pPr>
            <a:r>
              <a:rPr sz="90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证据路径</a:t>
            </a:r>
          </a:p>
        </p:txBody>
      </p:sp>
      <p:sp>
        <p:nvSpPr>
          <p:cNvPr id="25" name="圆角矩形 24">
            <a:extLst xmlns:a="http://schemas.openxmlformats.org/drawingml/2006/main">
              <a:ext uri="{FF2B5EF4-FFF2-40B4-BE49-F238E27FC236}">
                <a16:creationId xmlns:a16="http://schemas.microsoft.com/office/drawing/2014/main" id="{675AEDF9-397F-43D9-8F13-8FE74639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809750"/>
            <a:ext cx="10287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E2E5E8"/>
            </a:solidFill>
            <a:prstDash val="solid"/>
          </a:ln>
        </p:spPr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732680BB-7427-4F8B-9CD2-C83D07F8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2405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85D4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9D9ADCA4-614B-47BE-9E41-7C2957FA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276475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5D6673"/>
                </a:solidFill>
                <a:latin typeface="PingFang SC"/>
                <a:ea typeface="PingFang SC"/>
                <a:cs typeface="PingFang SC"/>
              </a:defRPr>
            </a:pPr>
            <a:r>
              <a:rPr sz="90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确认漏洞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62B34CC5-A179-4BC1-B097-3C8FC7A3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575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71B22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分析进度</a:t>
            </a:r>
          </a:p>
        </p:txBody>
      </p:sp>
      <p:sp>
        <p:nvSpPr>
          <p:cNvPr id="29" name="圆角矩形 28">
            <a:extLst xmlns:a="http://schemas.openxmlformats.org/drawingml/2006/main">
              <a:ext uri="{FF2B5EF4-FFF2-40B4-BE49-F238E27FC236}">
                <a16:creationId xmlns:a16="http://schemas.microsoft.com/office/drawing/2014/main" id="{8260E456-0D97-4076-8E58-14182E36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8EB"/>
          </a:solidFill>
          <a:ln xmlns:a="http://schemas.openxmlformats.org/drawingml/2006/main" w="9525">
            <a:solidFill>
              <a:srgbClr val="E4E8EB"/>
            </a:solidFill>
            <a:prstDash val="solid"/>
          </a:ln>
        </p:spPr>
      </p:sp>
      <p:sp>
        <p:nvSpPr>
          <p:cNvPr id="30" name="圆角矩形 29">
            <a:extLst xmlns:a="http://schemas.openxmlformats.org/drawingml/2006/main">
              <a:ext uri="{FF2B5EF4-FFF2-40B4-BE49-F238E27FC236}">
                <a16:creationId xmlns:a16="http://schemas.microsoft.com/office/drawing/2014/main" id="{D0B7B5AB-3A97-47F9-9169-7A3B9A60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2400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6D"/>
          </a:solidFill>
          <a:ln xmlns:a="http://schemas.openxmlformats.org/drawingml/2006/main" w="9525">
            <a:solidFill>
              <a:srgbClr val="007F6D"/>
            </a:solidFill>
            <a:prstDash val="solid"/>
          </a:ln>
        </p:spPr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209E9E08-BC95-4FC5-93E0-D718EBDA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71850"/>
            <a:ext cx="333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5D6673"/>
                </a:solidFill>
                <a:latin typeface="PingFang SC"/>
                <a:ea typeface="PingFang SC"/>
                <a:cs typeface="PingFang SC"/>
              </a:defRPr>
            </a:pPr>
            <a:r>
              <a:rPr sz="900">
                <a:solidFill>
                  <a:srgbClr val="5D6673"/>
                </a:solidFill>
                <a:latin typeface="PingFang SC"/>
                <a:ea typeface="PingFang SC"/>
                <a:cs typeface="PingFang SC"/>
              </a:rPr>
              <a:t>组件语义  9/12    六维验证  6/8</a:t>
            </a:r>
          </a:p>
        </p:txBody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93F0B108-E101-4195-92F9-F506BD45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6237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71B22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最新发现</a:t>
            </a:r>
          </a:p>
        </p:txBody>
      </p:sp>
      <p:sp>
        <p:nvSpPr>
          <p:cNvPr id="33" name="圆角矩形 32">
            <a:extLst xmlns:a="http://schemas.openxmlformats.org/drawingml/2006/main">
              <a:ext uri="{FF2B5EF4-FFF2-40B4-BE49-F238E27FC236}">
                <a16:creationId xmlns:a16="http://schemas.microsoft.com/office/drawing/2014/main" id="{C6531C3B-A1C5-46E5-A33D-A449E1D2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95750"/>
            <a:ext cx="33337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AFBFB"/>
          </a:solidFill>
          <a:ln xmlns:a="http://schemas.openxmlformats.org/drawingml/2006/main" w="9525">
            <a:solidFill>
              <a:srgbClr val="E5E8EA"/>
            </a:solidFill>
            <a:prstDash val="solid"/>
          </a:ln>
        </p:spPr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C72EBA8F-BB5C-476B-BAC2-476CB880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719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171B22"/>
                </a:solidFill>
                <a:latin typeface="PingFang SC"/>
                <a:ea typeface="PingFang SC"/>
                <a:cs typeface="PingFang SC"/>
              </a:defRPr>
            </a:pPr>
            <a:r>
              <a:rPr sz="90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跨组件未授权调用</a:t>
            </a:r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31AFC69F-A512-492D-AB99-9671E28E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17195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E85D4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高危</a:t>
            </a:r>
          </a:p>
        </p:txBody>
      </p:sp>
      <p:sp>
        <p:nvSpPr>
          <p:cNvPr id="36" name="圆角矩形 35">
            <a:extLst xmlns:a="http://schemas.openxmlformats.org/drawingml/2006/main">
              <a:ext uri="{FF2B5EF4-FFF2-40B4-BE49-F238E27FC236}">
                <a16:creationId xmlns:a16="http://schemas.microsoft.com/office/drawing/2014/main" id="{40FECB6A-467E-4919-88C5-1D848357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05325"/>
            <a:ext cx="33337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AFBFB"/>
          </a:solidFill>
          <a:ln xmlns:a="http://schemas.openxmlformats.org/drawingml/2006/main" w="9525">
            <a:solidFill>
              <a:srgbClr val="E5E8EA"/>
            </a:solidFill>
            <a:prstDash val="solid"/>
          </a:ln>
        </p:spPr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3C9E87C9-B215-4482-AA8B-076B700C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581525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171B22"/>
                </a:solidFill>
                <a:latin typeface="PingFang SC"/>
                <a:ea typeface="PingFang SC"/>
                <a:cs typeface="PingFang SC"/>
              </a:defRPr>
            </a:pPr>
            <a:r>
              <a:rPr sz="90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WebView 白名单保护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5024B1CE-074A-4D38-8AE4-E8B689AD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581525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07F6D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已保护</a:t>
            </a: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A903841A-1F29-4804-A496-A8762D7E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14900"/>
            <a:ext cx="33337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AFBFB"/>
          </a:solidFill>
          <a:ln xmlns:a="http://schemas.openxmlformats.org/drawingml/2006/main" w="9525">
            <a:solidFill>
              <a:srgbClr val="E5E8EA"/>
            </a:solidFill>
            <a:prstDash val="solid"/>
          </a:ln>
        </p:spPr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A8786BCB-2242-455C-887F-83328A3B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911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171B22"/>
                </a:solidFill>
                <a:latin typeface="PingFang SC"/>
                <a:ea typeface="PingFang SC"/>
                <a:cs typeface="PingFang SC"/>
              </a:defRPr>
            </a:pPr>
            <a:r>
              <a:rPr sz="900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CommonEvent 参数注入</a:t>
            </a: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B62DEFC4-0022-47D0-B682-926E24DB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99110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2F6FED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2F6FED"/>
                </a:solidFill>
                <a:latin typeface="PingFang SC"/>
                <a:ea typeface="PingFang SC"/>
                <a:cs typeface="PingFang SC"/>
              </a:rPr>
              <a:t>中危</a:t>
            </a:r>
          </a:p>
        </p:txBody>
      </p:sp>
    </p:spTree>
    <p:extLst>
      <p:ext uri="{BB962C8B-B14F-4D97-AF65-F5344CB8AC3E}">
        <p14:creationId xmlns:p14="http://schemas.microsoft.com/office/powerpoint/2010/main" val="158827824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C396D057-3A13-413F-9D9E-7792EE51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6D1B8C4-F19D-4410-B364-D5A04173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一项能力已经交付，下一阶段聚焦两项突破</a:t>
            </a:r>
          </a:p>
        </p:txBody>
      </p:sp>
      <p:sp>
        <p:nvSpPr>
          <p:cNvPr id="3" name="Google-Shape-558-p61-4">
            <a:extLst xmlns:a="http://schemas.openxmlformats.org/drawingml/2006/main">
              <a:ext uri="{FF2B5EF4-FFF2-40B4-BE49-F238E27FC236}">
                <a16:creationId xmlns:a16="http://schemas.microsoft.com/office/drawing/2014/main" id="{9519EC5B-202F-4A75-87BB-AEC59ECB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71B22"/>
                </a:solidFill>
                <a:latin typeface="Menlo"/>
                <a:ea typeface="Menlo"/>
                <a:cs typeface="Menlo"/>
              </a:rPr>
              <a:t>大型项目增量审计</a:t>
            </a:r>
            <a:r>
              <a:rPr sz="1725" b="0">
                <a:solidFill>
                  <a:srgbClr val="171B22"/>
                </a:solidFill>
                <a:latin typeface="Menlo"/>
                <a:ea typeface="Menlo"/>
                <a:cs typeface="Menlo"/>
              </a:rPr>
              <a:t>
</a:t>
            </a:r>
            <a:r>
              <a:rPr sz="1725" b="0">
                <a:solidFill>
                  <a:srgbClr val="171B22"/>
                </a:solidFill>
                <a:latin typeface="Menlo"/>
                <a:ea typeface="Menlo"/>
                <a:cs typeface="Menlo"/>
              </a:rPr>
              <a:t>全量重跑 → 影响范围</a:t>
            </a:r>
            <a:r>
              <a:rPr sz="1725" b="0">
                <a:solidFill>
                  <a:srgbClr val="171B22"/>
                </a:solidFill>
                <a:latin typeface="Menlo"/>
                <a:ea typeface="Menlo"/>
                <a:cs typeface="Menlo"/>
              </a:rPr>
              <a:t>
</a:t>
            </a:r>
            <a:r>
              <a:rPr sz="1725" b="0">
                <a:solidFill>
                  <a:srgbClr val="171B22"/>
                </a:solidFill>
                <a:latin typeface="Menlo"/>
                <a:ea typeface="Menlo"/>
                <a:cs typeface="Menlo"/>
              </a:rPr>
              <a:t>已完成：Git / 非 Git 差异识别，语义与验证结果复用，动态差异报告。</a:t>
            </a:r>
          </a:p>
        </p:txBody>
      </p:sp>
      <p:sp>
        <p:nvSpPr>
          <p:cNvPr id="4" name="Google-Shape-559-p61-5">
            <a:extLst xmlns:a="http://schemas.openxmlformats.org/drawingml/2006/main">
              <a:ext uri="{FF2B5EF4-FFF2-40B4-BE49-F238E27FC236}">
                <a16:creationId xmlns:a16="http://schemas.microsoft.com/office/drawing/2014/main" id="{640FEE9F-A02F-4A15-BD21-696E9000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968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71B22"/>
                </a:solidFill>
                <a:latin typeface="Menlo"/>
                <a:ea typeface="Menlo"/>
                <a:cs typeface="Menlo"/>
              </a:rPr>
              <a:t>PoC 与真机自动验证</a:t>
            </a:r>
            <a:r>
              <a:rPr sz="1725" b="0">
                <a:solidFill>
                  <a:srgbClr val="171B22"/>
                </a:solidFill>
                <a:latin typeface="Menlo"/>
                <a:ea typeface="Menlo"/>
                <a:cs typeface="Menlo"/>
              </a:rPr>
              <a:t>
</a:t>
            </a:r>
            <a:r>
              <a:rPr sz="1725" b="0">
                <a:solidFill>
                  <a:srgbClr val="171B22"/>
                </a:solidFill>
                <a:latin typeface="Menlo"/>
                <a:ea typeface="Menlo"/>
                <a:cs typeface="Menlo"/>
              </a:rPr>
              <a:t>静态结论 → 运行证据</a:t>
            </a:r>
            <a:r>
              <a:rPr sz="1725" b="0">
                <a:solidFill>
                  <a:srgbClr val="171B22"/>
                </a:solidFill>
                <a:latin typeface="Menlo"/>
                <a:ea typeface="Menlo"/>
                <a:cs typeface="Menlo"/>
              </a:rPr>
              <a:t>
</a:t>
            </a:r>
            <a:r>
              <a:rPr sz="1725" b="0">
                <a:solidFill>
                  <a:srgbClr val="171B22"/>
                </a:solidFill>
                <a:latin typeface="Menlo"/>
                <a:ea typeface="Menlo"/>
                <a:cs typeface="Menlo"/>
              </a:rPr>
              <a:t>生成可执行 PoC，完成构建、安装、触发与结果采集。</a:t>
            </a:r>
          </a:p>
        </p:txBody>
      </p:sp>
      <p:sp>
        <p:nvSpPr>
          <p:cNvPr id="5" name="Google-Shape-560-p61-6">
            <a:extLst xmlns:a="http://schemas.openxmlformats.org/drawingml/2006/main">
              <a:ext uri="{FF2B5EF4-FFF2-40B4-BE49-F238E27FC236}">
                <a16:creationId xmlns:a16="http://schemas.microsoft.com/office/drawing/2014/main" id="{198975C0-C304-42B6-A0CB-BF6074B1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71B22"/>
                </a:solidFill>
                <a:latin typeface="Menlo"/>
                <a:ea typeface="Menlo"/>
                <a:cs typeface="Menlo"/>
              </a:rPr>
              <a:t>Native / NAPI 分析</a:t>
            </a:r>
            <a:r>
              <a:rPr sz="1725" b="0">
                <a:solidFill>
                  <a:srgbClr val="171B22"/>
                </a:solidFill>
                <a:latin typeface="Menlo"/>
                <a:ea typeface="Menlo"/>
                <a:cs typeface="Menlo"/>
              </a:rPr>
              <a:t>
</a:t>
            </a:r>
            <a:r>
              <a:rPr sz="1725" b="0">
                <a:solidFill>
                  <a:srgbClr val="171B22"/>
                </a:solidFill>
                <a:latin typeface="Menlo"/>
                <a:ea typeface="Menlo"/>
                <a:cs typeface="Menlo"/>
              </a:rPr>
              <a:t>ArkTS → C / C++</a:t>
            </a:r>
            <a:r>
              <a:rPr sz="1725" b="0">
                <a:solidFill>
                  <a:srgbClr val="171B22"/>
                </a:solidFill>
                <a:latin typeface="Menlo"/>
                <a:ea typeface="Menlo"/>
                <a:cs typeface="Menlo"/>
              </a:rPr>
              <a:t>
</a:t>
            </a:r>
            <a:r>
              <a:rPr sz="1725" b="0">
                <a:solidFill>
                  <a:srgbClr val="171B22"/>
                </a:solidFill>
                <a:latin typeface="Menlo"/>
                <a:ea typeface="Menlo"/>
                <a:cs typeface="Menlo"/>
              </a:rPr>
              <a:t>连接 ArkTS 与原生代码边界，继续追踪输入、权限与敏感操作。</a:t>
            </a:r>
          </a:p>
        </p:txBody>
      </p:sp>
      <p:sp>
        <p:nvSpPr>
          <p:cNvPr id="6" name="Google-Shape-561-p61-7">
            <a:extLst xmlns:a="http://schemas.openxmlformats.org/drawingml/2006/main">
              <a:ext uri="{FF2B5EF4-FFF2-40B4-BE49-F238E27FC236}">
                <a16:creationId xmlns:a16="http://schemas.microsoft.com/office/drawing/2014/main" id="{16E07C59-A42C-421B-A06A-8E8339FF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868" y="3382328"/>
            <a:ext cx="315563" cy="353854"/>
          </a:xfrm>
          <a:custGeom xmlns:a="http://schemas.openxmlformats.org/drawingml/2006/main">
            <a:pathLst>
              <a:path w="192747900" h="191595375">
                <a:moveTo>
                  <a:pt x="107661075" y="24707850"/>
                </a:moveTo>
                <a:lnTo>
                  <a:pt x="20716875" y="114138075"/>
                </a:lnTo>
                <a:lnTo>
                  <a:pt x="86039325" y="114138075"/>
                </a:lnTo>
                <a:cubicBezTo>
                  <a:pt x="89192100" y="114138075"/>
                  <a:pt x="92182950" y="115423950"/>
                  <a:pt x="94135575" y="117614700"/>
                </a:cubicBezTo>
                <a:cubicBezTo>
                  <a:pt x="96097725" y="119814975"/>
                  <a:pt x="96821625" y="122682000"/>
                  <a:pt x="96097725" y="125406150"/>
                </a:cubicBezTo>
                <a:lnTo>
                  <a:pt x="85086825" y="166897050"/>
                </a:lnTo>
                <a:lnTo>
                  <a:pt x="172031025" y="77466825"/>
                </a:lnTo>
                <a:lnTo>
                  <a:pt x="106708575" y="77466825"/>
                </a:lnTo>
                <a:cubicBezTo>
                  <a:pt x="103555800" y="77466825"/>
                  <a:pt x="100564950" y="76190475"/>
                  <a:pt x="98612325" y="73990200"/>
                </a:cubicBezTo>
                <a:cubicBezTo>
                  <a:pt x="96650175" y="71789925"/>
                  <a:pt x="95926275" y="68922900"/>
                  <a:pt x="96650175" y="66198750"/>
                </a:cubicBezTo>
                <a:lnTo>
                  <a:pt x="107661075" y="24707850"/>
                </a:lnTo>
                <a:close/>
                <a:moveTo>
                  <a:pt x="98888550" y="5648325"/>
                </a:moveTo>
                <a:cubicBezTo>
                  <a:pt x="111242475" y="-7067550"/>
                  <a:pt x="134540625" y="3457575"/>
                  <a:pt x="130206750" y="19792950"/>
                </a:cubicBezTo>
                <a:lnTo>
                  <a:pt x="119767350" y="59131200"/>
                </a:lnTo>
                <a:lnTo>
                  <a:pt x="172031025" y="59131200"/>
                </a:lnTo>
                <a:cubicBezTo>
                  <a:pt x="189718950" y="59131200"/>
                  <a:pt x="199243950" y="77552550"/>
                  <a:pt x="187690125" y="89439750"/>
                </a:cubicBezTo>
                <a:lnTo>
                  <a:pt x="93859350" y="185956575"/>
                </a:lnTo>
                <a:cubicBezTo>
                  <a:pt x="81505425" y="198672450"/>
                  <a:pt x="58207275" y="188147325"/>
                  <a:pt x="62541150" y="171811950"/>
                </a:cubicBezTo>
                <a:lnTo>
                  <a:pt x="72980550" y="132473700"/>
                </a:lnTo>
                <a:lnTo>
                  <a:pt x="20716875" y="132473700"/>
                </a:lnTo>
                <a:cubicBezTo>
                  <a:pt x="3028950" y="132473700"/>
                  <a:pt x="-6496050" y="114052350"/>
                  <a:pt x="5057775" y="102165150"/>
                </a:cubicBezTo>
                <a:lnTo>
                  <a:pt x="98888550" y="5648325"/>
                </a:ln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7" name="Google-Shape-562-p61-8">
            <a:extLst xmlns:a="http://schemas.openxmlformats.org/drawingml/2006/main">
              <a:ext uri="{FF2B5EF4-FFF2-40B4-BE49-F238E27FC236}">
                <a16:creationId xmlns:a16="http://schemas.microsoft.com/office/drawing/2014/main" id="{397E9EBD-CA28-422A-9DC4-C0D63837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84" y="3378232"/>
            <a:ext cx="327089" cy="362045"/>
          </a:xfrm>
          <a:custGeom xmlns:a="http://schemas.openxmlformats.org/drawingml/2006/main">
            <a:pathLst>
              <a:path w="205740000" h="203196825">
                <a:moveTo>
                  <a:pt x="108194475" y="20288250"/>
                </a:moveTo>
                <a:cubicBezTo>
                  <a:pt x="104908350" y="18583275"/>
                  <a:pt x="100850700" y="18583275"/>
                  <a:pt x="97545525" y="20288250"/>
                </a:cubicBezTo>
                <a:lnTo>
                  <a:pt x="30956250" y="54597300"/>
                </a:lnTo>
                <a:lnTo>
                  <a:pt x="103031925" y="90773250"/>
                </a:lnTo>
                <a:lnTo>
                  <a:pt x="177098325" y="55778400"/>
                </a:lnTo>
                <a:lnTo>
                  <a:pt x="108194475" y="20288250"/>
                </a:lnTo>
                <a:close/>
                <a:moveTo>
                  <a:pt x="184442100" y="73809225"/>
                </a:moveTo>
                <a:lnTo>
                  <a:pt x="113518950" y="107318175"/>
                </a:lnTo>
                <a:lnTo>
                  <a:pt x="113518950" y="180174900"/>
                </a:lnTo>
                <a:lnTo>
                  <a:pt x="179117625" y="146370675"/>
                </a:lnTo>
                <a:cubicBezTo>
                  <a:pt x="182422800" y="144675225"/>
                  <a:pt x="184442100" y="141541500"/>
                  <a:pt x="184442100" y="138141075"/>
                </a:cubicBezTo>
                <a:lnTo>
                  <a:pt x="184442100" y="73809225"/>
                </a:lnTo>
                <a:close/>
                <a:moveTo>
                  <a:pt x="92221050" y="180174900"/>
                </a:moveTo>
                <a:lnTo>
                  <a:pt x="92221050" y="107156250"/>
                </a:lnTo>
                <a:lnTo>
                  <a:pt x="21297900" y="71561325"/>
                </a:lnTo>
                <a:lnTo>
                  <a:pt x="21297900" y="138141075"/>
                </a:lnTo>
                <a:cubicBezTo>
                  <a:pt x="21297900" y="141541500"/>
                  <a:pt x="23317200" y="144675225"/>
                  <a:pt x="26622375" y="146370675"/>
                </a:cubicBezTo>
                <a:lnTo>
                  <a:pt x="92221050" y="180174900"/>
                </a:lnTo>
                <a:close/>
                <a:moveTo>
                  <a:pt x="86896575" y="3819525"/>
                </a:moveTo>
                <a:cubicBezTo>
                  <a:pt x="96774000" y="-1266825"/>
                  <a:pt x="108966000" y="-1266825"/>
                  <a:pt x="118843425" y="3819525"/>
                </a:cubicBezTo>
                <a:lnTo>
                  <a:pt x="189766575" y="40366950"/>
                </a:lnTo>
                <a:cubicBezTo>
                  <a:pt x="199663050" y="45462825"/>
                  <a:pt x="205740000" y="54873525"/>
                  <a:pt x="205740000" y="65055750"/>
                </a:cubicBezTo>
                <a:lnTo>
                  <a:pt x="205740000" y="138141075"/>
                </a:lnTo>
                <a:cubicBezTo>
                  <a:pt x="205740000" y="148323300"/>
                  <a:pt x="199663050" y="157743525"/>
                  <a:pt x="189766575" y="162839400"/>
                </a:cubicBezTo>
                <a:lnTo>
                  <a:pt x="118843425" y="199377300"/>
                </a:lnTo>
                <a:cubicBezTo>
                  <a:pt x="108966000" y="204473175"/>
                  <a:pt x="96774000" y="204473175"/>
                  <a:pt x="86896575" y="199377300"/>
                </a:cubicBezTo>
                <a:lnTo>
                  <a:pt x="15973425" y="162839400"/>
                </a:lnTo>
                <a:cubicBezTo>
                  <a:pt x="6096000" y="157743525"/>
                  <a:pt x="0" y="148323300"/>
                  <a:pt x="0" y="138141075"/>
                </a:cubicBezTo>
                <a:lnTo>
                  <a:pt x="0" y="65055750"/>
                </a:lnTo>
                <a:cubicBezTo>
                  <a:pt x="0" y="54873525"/>
                  <a:pt x="6096000" y="45462825"/>
                  <a:pt x="15973425" y="40366950"/>
                </a:cubicBezTo>
                <a:lnTo>
                  <a:pt x="86896575" y="3819525"/>
                </a:ln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563-p61-9">
            <a:extLst xmlns:a="http://schemas.openxmlformats.org/drawingml/2006/main">
              <a:ext uri="{FF2B5EF4-FFF2-40B4-BE49-F238E27FC236}">
                <a16:creationId xmlns:a16="http://schemas.microsoft.com/office/drawing/2014/main" id="{3D9C700B-E248-4A08-A0C4-9A3566F0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1600" y="3406807"/>
            <a:ext cx="338614" cy="270891"/>
          </a:xfrm>
          <a:custGeom xmlns:a="http://schemas.openxmlformats.org/drawingml/2006/main">
            <a:pathLst>
              <a:path w="205740000" h="205740000">
                <a:moveTo>
                  <a:pt x="59245500" y="0"/>
                </a:moveTo>
                <a:lnTo>
                  <a:pt x="146494500" y="0"/>
                </a:lnTo>
                <a:cubicBezTo>
                  <a:pt x="154781250" y="0"/>
                  <a:pt x="161620200" y="0"/>
                  <a:pt x="167182800" y="561975"/>
                </a:cubicBezTo>
                <a:cubicBezTo>
                  <a:pt x="172964475" y="1162050"/>
                  <a:pt x="178279425" y="2428875"/>
                  <a:pt x="183270525" y="5610225"/>
                </a:cubicBezTo>
                <a:cubicBezTo>
                  <a:pt x="191023875" y="10534650"/>
                  <a:pt x="197310375" y="18402300"/>
                  <a:pt x="201253725" y="28079700"/>
                </a:cubicBezTo>
                <a:cubicBezTo>
                  <a:pt x="203796900" y="34318575"/>
                  <a:pt x="204816075" y="40967025"/>
                  <a:pt x="205282800" y="48196500"/>
                </a:cubicBezTo>
                <a:cubicBezTo>
                  <a:pt x="205740000" y="55149750"/>
                  <a:pt x="205740000" y="63703200"/>
                  <a:pt x="205740000" y="74056875"/>
                </a:cubicBezTo>
                <a:lnTo>
                  <a:pt x="205740000" y="131683125"/>
                </a:lnTo>
                <a:cubicBezTo>
                  <a:pt x="205740000" y="142036800"/>
                  <a:pt x="205740000" y="150590250"/>
                  <a:pt x="205282800" y="157543500"/>
                </a:cubicBezTo>
                <a:cubicBezTo>
                  <a:pt x="204816075" y="164772975"/>
                  <a:pt x="203796900" y="171421425"/>
                  <a:pt x="201253725" y="177660300"/>
                </a:cubicBezTo>
                <a:cubicBezTo>
                  <a:pt x="197310375" y="187337700"/>
                  <a:pt x="191023875" y="195205350"/>
                  <a:pt x="183270525" y="200129775"/>
                </a:cubicBezTo>
                <a:cubicBezTo>
                  <a:pt x="178279425" y="203311125"/>
                  <a:pt x="172964475" y="204577950"/>
                  <a:pt x="167182800" y="205178025"/>
                </a:cubicBezTo>
                <a:cubicBezTo>
                  <a:pt x="161620200" y="205740000"/>
                  <a:pt x="154781250" y="205740000"/>
                  <a:pt x="146494500" y="205740000"/>
                </a:cubicBezTo>
                <a:lnTo>
                  <a:pt x="59245500" y="205740000"/>
                </a:lnTo>
                <a:cubicBezTo>
                  <a:pt x="50958750" y="205740000"/>
                  <a:pt x="44119800" y="205740000"/>
                  <a:pt x="38557200" y="205178025"/>
                </a:cubicBezTo>
                <a:cubicBezTo>
                  <a:pt x="32775525" y="204577950"/>
                  <a:pt x="27460575" y="203311125"/>
                  <a:pt x="22469475" y="200129775"/>
                </a:cubicBezTo>
                <a:cubicBezTo>
                  <a:pt x="14716125" y="195205350"/>
                  <a:pt x="8429625" y="187337700"/>
                  <a:pt x="4486275" y="177660300"/>
                </a:cubicBezTo>
                <a:cubicBezTo>
                  <a:pt x="1943100" y="171421425"/>
                  <a:pt x="923925" y="164772975"/>
                  <a:pt x="457200" y="157543500"/>
                </a:cubicBezTo>
                <a:cubicBezTo>
                  <a:pt x="0" y="150590250"/>
                  <a:pt x="0" y="142036800"/>
                  <a:pt x="0" y="131683125"/>
                </a:cubicBezTo>
                <a:lnTo>
                  <a:pt x="0" y="74056875"/>
                </a:lnTo>
                <a:cubicBezTo>
                  <a:pt x="0" y="63703200"/>
                  <a:pt x="0" y="55149750"/>
                  <a:pt x="457200" y="48196500"/>
                </a:cubicBezTo>
                <a:cubicBezTo>
                  <a:pt x="923925" y="40967025"/>
                  <a:pt x="1943100" y="34318575"/>
                  <a:pt x="4486275" y="28079700"/>
                </a:cubicBezTo>
                <a:cubicBezTo>
                  <a:pt x="8429625" y="18402300"/>
                  <a:pt x="14716125" y="10534650"/>
                  <a:pt x="22469475" y="5610225"/>
                </a:cubicBezTo>
                <a:cubicBezTo>
                  <a:pt x="27460575" y="2428875"/>
                  <a:pt x="32775525" y="1162050"/>
                  <a:pt x="38557200" y="561975"/>
                </a:cubicBezTo>
                <a:cubicBezTo>
                  <a:pt x="44119800" y="0"/>
                  <a:pt x="50958750" y="0"/>
                  <a:pt x="59245500" y="0"/>
                </a:cubicBezTo>
                <a:close/>
                <a:moveTo>
                  <a:pt x="20574000" y="90011250"/>
                </a:moveTo>
                <a:lnTo>
                  <a:pt x="20574000" y="131159250"/>
                </a:lnTo>
                <a:cubicBezTo>
                  <a:pt x="20574000" y="142179675"/>
                  <a:pt x="20583525" y="149666325"/>
                  <a:pt x="20964525" y="155448000"/>
                </a:cubicBezTo>
                <a:cubicBezTo>
                  <a:pt x="21326475" y="161077275"/>
                  <a:pt x="21993225" y="163972875"/>
                  <a:pt x="22812375" y="165982650"/>
                </a:cubicBezTo>
                <a:cubicBezTo>
                  <a:pt x="24793575" y="170811825"/>
                  <a:pt x="27936825" y="174755175"/>
                  <a:pt x="31803975" y="177222150"/>
                </a:cubicBezTo>
                <a:cubicBezTo>
                  <a:pt x="33413700" y="178250850"/>
                  <a:pt x="35728275" y="179079525"/>
                  <a:pt x="40233600" y="179536725"/>
                </a:cubicBezTo>
                <a:cubicBezTo>
                  <a:pt x="44862750" y="180012975"/>
                  <a:pt x="50844450" y="180022500"/>
                  <a:pt x="59664600" y="180022500"/>
                </a:cubicBezTo>
                <a:lnTo>
                  <a:pt x="146075400" y="180022500"/>
                </a:lnTo>
                <a:cubicBezTo>
                  <a:pt x="154895550" y="180022500"/>
                  <a:pt x="160877250" y="180012975"/>
                  <a:pt x="165506400" y="179536725"/>
                </a:cubicBezTo>
                <a:cubicBezTo>
                  <a:pt x="170011725" y="179079525"/>
                  <a:pt x="172326300" y="178250850"/>
                  <a:pt x="173936025" y="177222150"/>
                </a:cubicBezTo>
                <a:cubicBezTo>
                  <a:pt x="177803175" y="174755175"/>
                  <a:pt x="180946425" y="170811825"/>
                  <a:pt x="182927625" y="165982650"/>
                </a:cubicBezTo>
                <a:cubicBezTo>
                  <a:pt x="183746775" y="163972875"/>
                  <a:pt x="184413525" y="161077275"/>
                  <a:pt x="184775475" y="155448000"/>
                </a:cubicBezTo>
                <a:cubicBezTo>
                  <a:pt x="185156475" y="149666325"/>
                  <a:pt x="185166000" y="142179675"/>
                  <a:pt x="185166000" y="131159250"/>
                </a:cubicBezTo>
                <a:lnTo>
                  <a:pt x="185166000" y="90011250"/>
                </a:lnTo>
                <a:lnTo>
                  <a:pt x="20574000" y="90011250"/>
                </a:lnTo>
                <a:close/>
                <a:moveTo>
                  <a:pt x="185146950" y="64293750"/>
                </a:moveTo>
                <a:cubicBezTo>
                  <a:pt x="185118375" y="58559700"/>
                  <a:pt x="185023125" y="54073425"/>
                  <a:pt x="184775475" y="50292000"/>
                </a:cubicBezTo>
                <a:cubicBezTo>
                  <a:pt x="184413525" y="44662725"/>
                  <a:pt x="183746775" y="41767125"/>
                  <a:pt x="182927625" y="39757350"/>
                </a:cubicBezTo>
                <a:cubicBezTo>
                  <a:pt x="180946425" y="34928175"/>
                  <a:pt x="177803175" y="30994350"/>
                  <a:pt x="173936025" y="28517850"/>
                </a:cubicBezTo>
                <a:cubicBezTo>
                  <a:pt x="172326300" y="27489150"/>
                  <a:pt x="170011725" y="26660475"/>
                  <a:pt x="165506400" y="26203275"/>
                </a:cubicBezTo>
                <a:cubicBezTo>
                  <a:pt x="160877250" y="25727025"/>
                  <a:pt x="154895550" y="25717500"/>
                  <a:pt x="146075400" y="25717500"/>
                </a:cubicBezTo>
                <a:lnTo>
                  <a:pt x="59664600" y="25717500"/>
                </a:lnTo>
                <a:cubicBezTo>
                  <a:pt x="50844450" y="25717500"/>
                  <a:pt x="44862750" y="25727025"/>
                  <a:pt x="40233600" y="26203275"/>
                </a:cubicBezTo>
                <a:cubicBezTo>
                  <a:pt x="35728275" y="26660475"/>
                  <a:pt x="33413700" y="27489150"/>
                  <a:pt x="31803975" y="28517850"/>
                </a:cubicBezTo>
                <a:cubicBezTo>
                  <a:pt x="27936825" y="30994350"/>
                  <a:pt x="24793575" y="34928175"/>
                  <a:pt x="22812375" y="39757350"/>
                </a:cubicBezTo>
                <a:cubicBezTo>
                  <a:pt x="21993225" y="41767125"/>
                  <a:pt x="21326475" y="44662725"/>
                  <a:pt x="20964525" y="50292000"/>
                </a:cubicBezTo>
                <a:cubicBezTo>
                  <a:pt x="20716875" y="54073425"/>
                  <a:pt x="20621625" y="58559700"/>
                  <a:pt x="20593050" y="64293750"/>
                </a:cubicBezTo>
                <a:lnTo>
                  <a:pt x="185146950" y="64293750"/>
                </a:lnTo>
                <a:close/>
                <a:moveTo>
                  <a:pt x="123444000" y="141446250"/>
                </a:moveTo>
                <a:cubicBezTo>
                  <a:pt x="123444000" y="134350125"/>
                  <a:pt x="128054100" y="128587500"/>
                  <a:pt x="133731000" y="128587500"/>
                </a:cubicBezTo>
                <a:lnTo>
                  <a:pt x="154305000" y="128587500"/>
                </a:lnTo>
                <a:cubicBezTo>
                  <a:pt x="159981900" y="128587500"/>
                  <a:pt x="164592000" y="134350125"/>
                  <a:pt x="164592000" y="141446250"/>
                </a:cubicBezTo>
                <a:cubicBezTo>
                  <a:pt x="164592000" y="148542375"/>
                  <a:pt x="159981900" y="154305000"/>
                  <a:pt x="154305000" y="154305000"/>
                </a:cubicBezTo>
                <a:lnTo>
                  <a:pt x="133731000" y="154305000"/>
                </a:lnTo>
                <a:cubicBezTo>
                  <a:pt x="128054100" y="154305000"/>
                  <a:pt x="123444000" y="148542375"/>
                  <a:pt x="123444000" y="141446250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section-rail-14">
            <a:extLst xmlns:a="http://schemas.openxmlformats.org/drawingml/2006/main">
              <a:ext uri="{FF2B5EF4-FFF2-40B4-BE49-F238E27FC236}">
                <a16:creationId xmlns:a16="http://schemas.microsoft.com/office/drawing/2014/main" id="{1D6E5F7B-2417-4BFC-85E7-D022069DD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10" name="section-tag-14">
            <a:extLst xmlns:a="http://schemas.openxmlformats.org/drawingml/2006/main">
              <a:ext uri="{FF2B5EF4-FFF2-40B4-BE49-F238E27FC236}">
                <a16:creationId xmlns:a16="http://schemas.microsoft.com/office/drawing/2014/main" id="{A7B7322A-754B-4526-85F9-D9BA0075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1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2F6FED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2F6FED"/>
                </a:solidFill>
                <a:latin typeface="PingFang SC"/>
                <a:ea typeface="PingFang SC"/>
                <a:cs typeface="PingFang SC"/>
              </a:rPr>
              <a:t>演进路线</a:t>
            </a:r>
          </a:p>
        </p:txBody>
      </p:sp>
    </p:spTree>
    <p:extLst>
      <p:ext uri="{BB962C8B-B14F-4D97-AF65-F5344CB8AC3E}">
        <p14:creationId xmlns:p14="http://schemas.microsoft.com/office/powerpoint/2010/main" val="183020000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3-1">
            <a:extLst xmlns:a="http://schemas.openxmlformats.org/drawingml/2006/main">
              <a:ext uri="{FF2B5EF4-FFF2-40B4-BE49-F238E27FC236}">
                <a16:creationId xmlns:a16="http://schemas.microsoft.com/office/drawing/2014/main" id="{15677814-3FF8-42E7-B2FF-83414B65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Aft>
                <a:spcPts val="500"/>
              </a:spcAft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75" b="1">
                <a:solidFill>
                  <a:srgbClr val="171B22"/>
                </a:solidFill>
                <a:latin typeface="PingFang SC"/>
                <a:ea typeface="PingFang SC"/>
                <a:cs typeface="PingFang SC"/>
              </a:rPr>
              <a:t>AI 理解代码
脚本控制流程
数据库保存证据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1DC0CEF0-31D7-4B4E-B208-BE15056C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E85D4A"/>
                </a:solidFill>
                <a:latin typeface="PingFang SC"/>
                <a:ea typeface="PingFang SC"/>
                <a:cs typeface="PingFang SC"/>
              </a:rPr>
              <a:t>路径：候选枚举 → 真实入口发现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验证：危险直觉 → 六维证据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F6FED"/>
                </a:solidFill>
                <a:latin typeface="PingFang SC"/>
                <a:ea typeface="PingFang SC"/>
                <a:cs typeface="PingFang SC"/>
              </a:rPr>
              <a:t>交付：最终文件 → 运行中窗口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6719188E-E82C-499C-8F64-378CE67A4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spcAft>
                <a:spcPts val="5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7F6D"/>
                </a:solidFill>
                <a:latin typeface="PingFang SC"/>
                <a:ea typeface="PingFang SC"/>
                <a:cs typeface="PingFang SC"/>
              </a:rPr>
              <a:t>V3 UPGRADE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B310B84-AE69-4D96-8549-3FFA61FF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0"/>
            <a:ext cx="1905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6D"/>
          </a:solidFill>
          <a:ln xmlns:a="http://schemas.openxmlformats.org/drawingml/2006/main" w="0">
            <a:solidFill>
              <a:srgbClr val="007F6D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A9A5C09-DE3C-4842-B9F4-163BB50D3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286000"/>
            <a:ext cx="1905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4A"/>
          </a:solidFill>
          <a:ln xmlns:a="http://schemas.openxmlformats.org/drawingml/2006/main" w="0">
            <a:solidFill>
              <a:srgbClr val="E85D4A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E99ED9E8-084E-4E30-9118-EFC36333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572000"/>
            <a:ext cx="1905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811545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2026-07-30T08:29:08.3240000Z</dcterms:created>
  <dcterms:modified xsi:type="dcterms:W3CDTF">2026-07-30T08:29:08.3240000Z</dcterms:modified>
</coreProperties>
</file>